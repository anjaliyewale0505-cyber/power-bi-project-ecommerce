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940C1FE5-D3FA-99BA-E5F7-2A85177338E3}">
          <p14:sldIdLst>
            <p14:sldId id="256"/>
            <p14:sldId id="257"/>
            <p14:sldId id="258"/>
            <p14:sldId id="259"/>
            <p14:sldId id="260"/>
            <p14:sldId id="261"/>
          </p14:sldIdLst>
        </p14:section>
        <p14:section name="KPI analysis" id="{2737488E-E134-8814-8FB1-F5337F11B010}">
          <p14:sldIdLst>
            <p14:sldId id="262"/>
            <p14:sldId id="263"/>
            <p14:sldId id="264"/>
            <p14:sldId id="265"/>
          </p14:sldIdLst>
        </p14:section>
        <p14:section name="Deep dive" id="{D9A272E7-C9BA-6161-3512-4292D26A3675}">
          <p14:sldIdLst>
            <p14:sldId id="266"/>
            <p14:sldId id="267"/>
            <p14:sldId id="268"/>
          </p14:sldIdLst>
        </p14:section>
        <p14:section name="Actions" id="{01C1191C-7B9A-2D90-7432-4E07DB83EEB7}">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1301" y="6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7535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walks through the Ecommerce Sales Dashboard in detail: the data, the KPIs, each dashboard visual, insights, recommendations and a conclusion.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of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business context and the data behind the dashboard.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track performance, measure profitability, find top performers, understand customers and orders.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related tables feed the dashboard. Measures are calculated on OrderItems and sliced by the other tables.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has two pages: an orders overview and a sales dashboard.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bracketed values with the numbers from your dashboard cards.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the Total Sales card and the line chart. Fill in the two insights.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the profit and margin cards. Explain what is pulling margin up or down.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the orders cards and the order status by payment method chart.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the regional bar chart.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the category and product charts.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the customer segment donut chart.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each card with one finding from the dashboard.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the bracketed names from the dashboard.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headline numbers and the main actions.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103120"/>
            <a:ext cx="10515600" cy="1828800"/>
          </a:xfrm>
          <a:prstGeom prst="rect">
            <a:avLst/>
          </a:prstGeom>
          <a:noFill/>
          <a:ln/>
        </p:spPr>
        <p:txBody>
          <a:bodyPr wrap="square" rtlCol="0"/>
          <a:lstStyle>
            <a:lvl1pPr marL="0" indent="0" algn="l">
              <a:buNone/>
              <a:defRPr lang="en-US" sz="6000" b="1" dirty="0">
                <a:solidFill>
                  <a:schemeClr val="bg1"/>
                </a:solidFill>
                <a:latin typeface="+mj-lt" pitchFamily="34" charset="0"/>
                <a:ea typeface="+mj-lt" pitchFamily="34" charset="-122"/>
                <a:cs typeface="+mj-lt" pitchFamily="34" charset="-120"/>
              </a:defRPr>
            </a:lvl1pPr>
          </a:lstStyle>
          <a:p>
            <a:pPr marL="0" indent="0" algn="l">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548640"/>
            <a:ext cx="10515600" cy="914400"/>
          </a:xfrm>
          <a:prstGeom prst="rect">
            <a:avLst/>
          </a:prstGeom>
          <a:noFill/>
          <a:ln/>
        </p:spPr>
        <p:txBody>
          <a:bodyPr wrap="square" rtlCol="0"/>
          <a:lstStyle>
            <a:lvl1pPr marL="0" indent="0" algn="l">
              <a:buNone/>
              <a:defRPr lang="en-US" sz="4000" b="1" dirty="0">
                <a:solidFill>
                  <a:schemeClr val="tx1"/>
                </a:solidFill>
                <a:latin typeface="+mj-lt" pitchFamily="34" charset="0"/>
                <a:ea typeface="+mj-lt" pitchFamily="34" charset="-122"/>
                <a:cs typeface="+mj-lt" pitchFamily="34" charset="-120"/>
              </a:defRPr>
            </a:lvl1pPr>
          </a:lstStyle>
          <a:p>
            <a:pPr marL="0" indent="0" algn="l">
              <a:buNone/>
            </a:pPr>
            <a:endParaRPr lang="en-US" sz="4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66070"/>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TOP">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548640"/>
            <a:ext cx="10515600" cy="914400"/>
          </a:xfrm>
          <a:prstGeom prst="rect">
            <a:avLst/>
          </a:prstGeom>
          <a:noFill/>
          <a:ln/>
        </p:spPr>
        <p:txBody>
          <a:bodyPr wrap="square" rtlCol="0"/>
          <a:lstStyle>
            <a:lvl1pPr marL="0" indent="0" algn="l">
              <a:buNone/>
              <a:defRPr lang="en-US" sz="4000" b="1" dirty="0">
                <a:solidFill>
                  <a:schemeClr val="accent1"/>
                </a:solidFill>
                <a:latin typeface="+mj-lt" pitchFamily="34" charset="0"/>
                <a:ea typeface="+mj-lt" pitchFamily="34" charset="-122"/>
                <a:cs typeface="+mj-lt" pitchFamily="34" charset="-120"/>
              </a:defRPr>
            </a:lvl1pPr>
          </a:lstStyle>
          <a:p>
            <a:pPr marL="0" indent="0" algn="l">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66070"/>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554480"/>
            <a:ext cx="7315200" cy="365760"/>
          </a:xfrm>
          <a:prstGeom prst="rect">
            <a:avLst/>
          </a:prstGeom>
          <a:noFill/>
          <a:ln/>
        </p:spPr>
        <p:txBody>
          <a:bodyPr wrap="square" lIns="0" tIns="0" rIns="0" bIns="0" rtlCol="0" anchor="ctr"/>
          <a:lstStyle/>
          <a:p>
            <a:pPr marL="0" indent="0">
              <a:buNone/>
            </a:pPr>
            <a:r>
              <a:rPr lang="en-US" sz="1600" b="1" kern="0" spc="300" dirty="0">
                <a:solidFill>
                  <a:schemeClr val="accent1"/>
                </a:solidFill>
              </a:rPr>
              <a:t>POWER BI PROJECT</a:t>
            </a:r>
            <a:endParaRPr lang="en-US" sz="1600" dirty="0"/>
          </a:p>
        </p:txBody>
      </p:sp>
      <p:sp>
        <p:nvSpPr>
          <p:cNvPr id="3" name="Text 0"/>
          <p:cNvSpPr>
            <a:spLocks noGrp="1"/>
          </p:cNvSpPr>
          <p:nvPr>
            <p:ph type="title" idx="100" hasCustomPrompt="1"/>
          </p:nvPr>
        </p:nvSpPr>
        <p:spPr>
          <a:xfrm>
            <a:off x="822960" y="2103120"/>
            <a:ext cx="10515600" cy="1828800"/>
          </a:xfrm>
          <a:prstGeom prst="rect">
            <a:avLst/>
          </a:prstGeom>
          <a:noFill/>
          <a:ln/>
        </p:spPr>
        <p:txBody>
          <a:bodyPr wrap="square" lIns="0" tIns="0" rIns="0" bIns="0" rtlCol="0" anchor="ctr"/>
          <a:lstStyle/>
          <a:p>
            <a:pPr marL="0" indent="0" algn="l">
              <a:buNone/>
            </a:pPr>
            <a:r>
              <a:rPr lang="en-US" sz="6000" b="1" dirty="0">
                <a:solidFill>
                  <a:schemeClr val="bg1"/>
                </a:solidFill>
                <a:latin typeface="+mj-lt" pitchFamily="34" charset="0"/>
                <a:ea typeface="+mj-lt" pitchFamily="34" charset="-122"/>
                <a:cs typeface="+mj-lt" pitchFamily="34" charset="-120"/>
              </a:rPr>
              <a:t>Ecommerce Sales Dashboard</a:t>
            </a:r>
            <a:endParaRPr lang="en-US" sz="6000" dirty="0"/>
          </a:p>
        </p:txBody>
      </p:sp>
      <p:sp>
        <p:nvSpPr>
          <p:cNvPr id="4" name="Text 2"/>
          <p:cNvSpPr txBox="1"/>
          <p:nvPr/>
        </p:nvSpPr>
        <p:spPr>
          <a:xfrm>
            <a:off x="822960" y="4114800"/>
            <a:ext cx="10058400" cy="457200"/>
          </a:xfrm>
          <a:prstGeom prst="rect">
            <a:avLst/>
          </a:prstGeom>
          <a:noFill/>
          <a:ln/>
        </p:spPr>
        <p:txBody>
          <a:bodyPr wrap="square" lIns="0" tIns="0" rIns="0" bIns="0" rtlCol="0" anchor="ctr"/>
          <a:lstStyle/>
          <a:p>
            <a:pPr marL="0" indent="0">
              <a:buNone/>
            </a:pPr>
            <a:r>
              <a:rPr lang="en-US" sz="2400" dirty="0">
                <a:solidFill>
                  <a:schemeClr val="accent6"/>
                </a:solidFill>
              </a:rPr>
              <a:t>Detailed analysis of sales, profit, margin and orders</a:t>
            </a:r>
            <a:endParaRPr lang="en-US" sz="2400" dirty="0"/>
          </a:p>
        </p:txBody>
      </p:sp>
      <p:sp>
        <p:nvSpPr>
          <p:cNvPr id="5" name="Text 3"/>
          <p:cNvSpPr txBox="1"/>
          <p:nvPr/>
        </p:nvSpPr>
        <p:spPr>
          <a:xfrm>
            <a:off x="822960" y="6035040"/>
            <a:ext cx="7315200" cy="365760"/>
          </a:xfrm>
          <a:prstGeom prst="rect">
            <a:avLst/>
          </a:prstGeom>
          <a:noFill/>
          <a:ln/>
        </p:spPr>
        <p:txBody>
          <a:bodyPr wrap="square" lIns="0" tIns="0" rIns="0" bIns="0" rtlCol="0" anchor="ctr"/>
          <a:lstStyle/>
          <a:p>
            <a:pPr marL="0" indent="0">
              <a:buNone/>
            </a:pPr>
            <a:r>
              <a:rPr lang="en-US" sz="1400" dirty="0">
                <a:solidFill>
                  <a:schemeClr val="accent6"/>
                </a:solidFill>
              </a:rPr>
              <a:t>Prepared by [Your name]  ·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548640"/>
            <a:ext cx="10515600" cy="914400"/>
          </a:xfrm>
          <a:prstGeom prst="rect">
            <a:avLst/>
          </a:prstGeom>
          <a:noFill/>
          <a:ln/>
        </p:spPr>
        <p:txBody>
          <a:bodyPr wrap="square" lIns="0" tIns="0" rIns="0" bIns="0" rtlCol="0" anchor="ctr"/>
          <a:lstStyle/>
          <a:p>
            <a:pPr marL="0" indent="0" algn="l">
              <a:buNone/>
            </a:pPr>
            <a:r>
              <a:rPr lang="en-US" sz="4000" b="1" dirty="0">
                <a:solidFill>
                  <a:schemeClr val="tx1"/>
                </a:solidFill>
                <a:latin typeface="+mj-lt" pitchFamily="34" charset="0"/>
                <a:ea typeface="+mj-lt" pitchFamily="34" charset="-122"/>
                <a:cs typeface="+mj-lt" pitchFamily="34" charset="-120"/>
              </a:rPr>
              <a:t>Agenda</a:t>
            </a:r>
            <a:endParaRPr lang="en-US" sz="4000" dirty="0"/>
          </a:p>
        </p:txBody>
      </p:sp>
      <p:sp>
        <p:nvSpPr>
          <p:cNvPr id="4" name="Agenda item 1"/>
          <p:cNvSpPr/>
          <p:nvPr/>
        </p:nvSpPr>
        <p:spPr>
          <a:xfrm>
            <a:off x="822960" y="1783080"/>
            <a:ext cx="5166360" cy="914400"/>
          </a:xfrm>
          <a:prstGeom prst="roundRect">
            <a:avLst>
              <a:gd name="adj" fmla="val 12000"/>
            </a:avLst>
          </a:prstGeom>
          <a:solidFill>
            <a:schemeClr val="bg2"/>
          </a:solidFill>
          <a:ln w="12700">
            <a:solidFill>
              <a:srgbClr val="DDD8CC"/>
            </a:solidFill>
            <a:prstDash val="solid"/>
          </a:ln>
        </p:spPr>
      </p:sp>
      <p:sp>
        <p:nvSpPr>
          <p:cNvPr id="5" name="Text 2"/>
          <p:cNvSpPr txBox="1"/>
          <p:nvPr/>
        </p:nvSpPr>
        <p:spPr>
          <a:xfrm>
            <a:off x="1097280" y="1783080"/>
            <a:ext cx="548640" cy="914400"/>
          </a:xfrm>
          <a:prstGeom prst="rect">
            <a:avLst/>
          </a:prstGeom>
          <a:noFill/>
          <a:ln/>
        </p:spPr>
        <p:txBody>
          <a:bodyPr wrap="square" lIns="0" tIns="0" rIns="0" bIns="0" rtlCol="0" anchor="ctr"/>
          <a:lstStyle/>
          <a:p>
            <a:pPr marL="0" indent="0">
              <a:buNone/>
            </a:pPr>
            <a:r>
              <a:rPr lang="en-US" sz="2800" b="1" dirty="0">
                <a:solidFill>
                  <a:schemeClr val="accent3"/>
                </a:solidFill>
                <a:latin typeface="+mj-lt" pitchFamily="34" charset="0"/>
                <a:ea typeface="+mj-lt" pitchFamily="34" charset="-122"/>
                <a:cs typeface="+mj-lt" pitchFamily="34" charset="-120"/>
              </a:rPr>
              <a:t>1</a:t>
            </a:r>
            <a:endParaRPr lang="en-US" sz="2800" dirty="0"/>
          </a:p>
        </p:txBody>
      </p:sp>
      <p:sp>
        <p:nvSpPr>
          <p:cNvPr id="6" name="Text 3"/>
          <p:cNvSpPr txBox="1"/>
          <p:nvPr/>
        </p:nvSpPr>
        <p:spPr>
          <a:xfrm>
            <a:off x="1783080" y="1911096"/>
            <a:ext cx="4023360" cy="365760"/>
          </a:xfrm>
          <a:prstGeom prst="rect">
            <a:avLst/>
          </a:prstGeom>
          <a:noFill/>
          <a:ln/>
        </p:spPr>
        <p:txBody>
          <a:bodyPr wrap="square" lIns="0" tIns="0" rIns="0" bIns="0" rtlCol="0" anchor="ctr"/>
          <a:lstStyle/>
          <a:p>
            <a:pPr marL="0" indent="0">
              <a:buNone/>
            </a:pPr>
            <a:r>
              <a:rPr lang="en-US" sz="1800" b="1" dirty="0">
                <a:solidFill>
                  <a:schemeClr val="tx1"/>
                </a:solidFill>
              </a:rPr>
              <a:t>Project introduction</a:t>
            </a:r>
            <a:endParaRPr lang="en-US" sz="1800" dirty="0"/>
          </a:p>
        </p:txBody>
      </p:sp>
      <p:sp>
        <p:nvSpPr>
          <p:cNvPr id="7" name="Text 4"/>
          <p:cNvSpPr txBox="1"/>
          <p:nvPr/>
        </p:nvSpPr>
        <p:spPr>
          <a:xfrm>
            <a:off x="1783080" y="2286000"/>
            <a:ext cx="4023360" cy="274320"/>
          </a:xfrm>
          <a:prstGeom prst="rect">
            <a:avLst/>
          </a:prstGeom>
          <a:noFill/>
          <a:ln/>
        </p:spPr>
        <p:txBody>
          <a:bodyPr wrap="square" lIns="0" tIns="0" rIns="0" bIns="0" rtlCol="0" anchor="ctr"/>
          <a:lstStyle/>
          <a:p>
            <a:pPr marL="0" indent="0">
              <a:buNone/>
            </a:pPr>
            <a:r>
              <a:rPr lang="en-US" sz="1400" dirty="0">
                <a:solidFill>
                  <a:schemeClr val="accent4"/>
                </a:solidFill>
              </a:rPr>
              <a:t>What the project is about</a:t>
            </a:r>
            <a:endParaRPr lang="en-US" sz="1400" dirty="0"/>
          </a:p>
        </p:txBody>
      </p:sp>
      <p:sp>
        <p:nvSpPr>
          <p:cNvPr id="8" name="Agenda item 2"/>
          <p:cNvSpPr/>
          <p:nvPr/>
        </p:nvSpPr>
        <p:spPr>
          <a:xfrm>
            <a:off x="822960" y="2880360"/>
            <a:ext cx="5166360" cy="914400"/>
          </a:xfrm>
          <a:prstGeom prst="roundRect">
            <a:avLst>
              <a:gd name="adj" fmla="val 12000"/>
            </a:avLst>
          </a:prstGeom>
          <a:solidFill>
            <a:schemeClr val="bg2"/>
          </a:solidFill>
          <a:ln w="12700">
            <a:solidFill>
              <a:srgbClr val="DDD8CC"/>
            </a:solidFill>
            <a:prstDash val="solid"/>
          </a:ln>
        </p:spPr>
      </p:sp>
      <p:sp>
        <p:nvSpPr>
          <p:cNvPr id="9" name="Text 6"/>
          <p:cNvSpPr txBox="1"/>
          <p:nvPr/>
        </p:nvSpPr>
        <p:spPr>
          <a:xfrm>
            <a:off x="1097280" y="2880360"/>
            <a:ext cx="548640" cy="914400"/>
          </a:xfrm>
          <a:prstGeom prst="rect">
            <a:avLst/>
          </a:prstGeom>
          <a:noFill/>
          <a:ln/>
        </p:spPr>
        <p:txBody>
          <a:bodyPr wrap="square" lIns="0" tIns="0" rIns="0" bIns="0" rtlCol="0" anchor="ctr"/>
          <a:lstStyle/>
          <a:p>
            <a:pPr marL="0" indent="0">
              <a:buNone/>
            </a:pPr>
            <a:r>
              <a:rPr lang="en-US" sz="2800" b="1" dirty="0">
                <a:solidFill>
                  <a:schemeClr val="accent3"/>
                </a:solidFill>
                <a:latin typeface="+mj-lt" pitchFamily="34" charset="0"/>
                <a:ea typeface="+mj-lt" pitchFamily="34" charset="-122"/>
                <a:cs typeface="+mj-lt" pitchFamily="34" charset="-120"/>
              </a:rPr>
              <a:t>2</a:t>
            </a:r>
            <a:endParaRPr lang="en-US" sz="2800" dirty="0"/>
          </a:p>
        </p:txBody>
      </p:sp>
      <p:sp>
        <p:nvSpPr>
          <p:cNvPr id="10" name="Text 7"/>
          <p:cNvSpPr txBox="1"/>
          <p:nvPr/>
        </p:nvSpPr>
        <p:spPr>
          <a:xfrm>
            <a:off x="1783080" y="3008376"/>
            <a:ext cx="4023360" cy="365760"/>
          </a:xfrm>
          <a:prstGeom prst="rect">
            <a:avLst/>
          </a:prstGeom>
          <a:noFill/>
          <a:ln/>
        </p:spPr>
        <p:txBody>
          <a:bodyPr wrap="square" lIns="0" tIns="0" rIns="0" bIns="0" rtlCol="0" anchor="ctr"/>
          <a:lstStyle/>
          <a:p>
            <a:pPr marL="0" indent="0">
              <a:buNone/>
            </a:pPr>
            <a:r>
              <a:rPr lang="en-US" sz="1800" b="1" dirty="0">
                <a:solidFill>
                  <a:schemeClr val="tx1"/>
                </a:solidFill>
              </a:rPr>
              <a:t>Project objectives</a:t>
            </a:r>
            <a:endParaRPr lang="en-US" sz="1800" dirty="0"/>
          </a:p>
        </p:txBody>
      </p:sp>
      <p:sp>
        <p:nvSpPr>
          <p:cNvPr id="11" name="Text 8"/>
          <p:cNvSpPr txBox="1"/>
          <p:nvPr/>
        </p:nvSpPr>
        <p:spPr>
          <a:xfrm>
            <a:off x="1783080" y="3383280"/>
            <a:ext cx="4023360" cy="274320"/>
          </a:xfrm>
          <a:prstGeom prst="rect">
            <a:avLst/>
          </a:prstGeom>
          <a:noFill/>
          <a:ln/>
        </p:spPr>
        <p:txBody>
          <a:bodyPr wrap="square" lIns="0" tIns="0" rIns="0" bIns="0" rtlCol="0" anchor="ctr"/>
          <a:lstStyle/>
          <a:p>
            <a:pPr marL="0" indent="0">
              <a:buNone/>
            </a:pPr>
            <a:r>
              <a:rPr lang="en-US" sz="1400" dirty="0">
                <a:solidFill>
                  <a:schemeClr val="accent4"/>
                </a:solidFill>
              </a:rPr>
              <a:t>What we set out to do</a:t>
            </a:r>
            <a:endParaRPr lang="en-US" sz="1400" dirty="0"/>
          </a:p>
        </p:txBody>
      </p:sp>
      <p:sp>
        <p:nvSpPr>
          <p:cNvPr id="12" name="Agenda item 3"/>
          <p:cNvSpPr/>
          <p:nvPr/>
        </p:nvSpPr>
        <p:spPr>
          <a:xfrm>
            <a:off x="822960" y="3977640"/>
            <a:ext cx="5166360" cy="914400"/>
          </a:xfrm>
          <a:prstGeom prst="roundRect">
            <a:avLst>
              <a:gd name="adj" fmla="val 12000"/>
            </a:avLst>
          </a:prstGeom>
          <a:solidFill>
            <a:schemeClr val="bg2"/>
          </a:solidFill>
          <a:ln w="12700">
            <a:solidFill>
              <a:srgbClr val="DDD8CC"/>
            </a:solidFill>
            <a:prstDash val="solid"/>
          </a:ln>
        </p:spPr>
      </p:sp>
      <p:sp>
        <p:nvSpPr>
          <p:cNvPr id="13" name="Text 10"/>
          <p:cNvSpPr txBox="1"/>
          <p:nvPr/>
        </p:nvSpPr>
        <p:spPr>
          <a:xfrm>
            <a:off x="1097280" y="3977640"/>
            <a:ext cx="548640" cy="914400"/>
          </a:xfrm>
          <a:prstGeom prst="rect">
            <a:avLst/>
          </a:prstGeom>
          <a:noFill/>
          <a:ln/>
        </p:spPr>
        <p:txBody>
          <a:bodyPr wrap="square" lIns="0" tIns="0" rIns="0" bIns="0" rtlCol="0" anchor="ctr"/>
          <a:lstStyle/>
          <a:p>
            <a:pPr marL="0" indent="0">
              <a:buNone/>
            </a:pPr>
            <a:r>
              <a:rPr lang="en-US" sz="2800" b="1" dirty="0">
                <a:solidFill>
                  <a:schemeClr val="accent3"/>
                </a:solidFill>
                <a:latin typeface="+mj-lt" pitchFamily="34" charset="0"/>
                <a:ea typeface="+mj-lt" pitchFamily="34" charset="-122"/>
                <a:cs typeface="+mj-lt" pitchFamily="34" charset="-120"/>
              </a:rPr>
              <a:t>3</a:t>
            </a:r>
            <a:endParaRPr lang="en-US" sz="2800" dirty="0"/>
          </a:p>
        </p:txBody>
      </p:sp>
      <p:sp>
        <p:nvSpPr>
          <p:cNvPr id="14" name="Text 11"/>
          <p:cNvSpPr txBox="1"/>
          <p:nvPr/>
        </p:nvSpPr>
        <p:spPr>
          <a:xfrm>
            <a:off x="1783080" y="4105656"/>
            <a:ext cx="4023360" cy="365760"/>
          </a:xfrm>
          <a:prstGeom prst="rect">
            <a:avLst/>
          </a:prstGeom>
          <a:noFill/>
          <a:ln/>
        </p:spPr>
        <p:txBody>
          <a:bodyPr wrap="square" lIns="0" tIns="0" rIns="0" bIns="0" rtlCol="0" anchor="ctr"/>
          <a:lstStyle/>
          <a:p>
            <a:pPr marL="0" indent="0">
              <a:buNone/>
            </a:pPr>
            <a:r>
              <a:rPr lang="en-US" sz="1800" b="1" dirty="0">
                <a:solidFill>
                  <a:schemeClr val="tx1"/>
                </a:solidFill>
              </a:rPr>
              <a:t>Data model and dashboard</a:t>
            </a:r>
            <a:endParaRPr lang="en-US" sz="1800" dirty="0"/>
          </a:p>
        </p:txBody>
      </p:sp>
      <p:sp>
        <p:nvSpPr>
          <p:cNvPr id="15" name="Text 12"/>
          <p:cNvSpPr txBox="1"/>
          <p:nvPr/>
        </p:nvSpPr>
        <p:spPr>
          <a:xfrm>
            <a:off x="1783080" y="4480560"/>
            <a:ext cx="4023360" cy="274320"/>
          </a:xfrm>
          <a:prstGeom prst="rect">
            <a:avLst/>
          </a:prstGeom>
          <a:noFill/>
          <a:ln/>
        </p:spPr>
        <p:txBody>
          <a:bodyPr wrap="square" lIns="0" tIns="0" rIns="0" bIns="0" rtlCol="0" anchor="ctr"/>
          <a:lstStyle/>
          <a:p>
            <a:pPr marL="0" indent="0">
              <a:buNone/>
            </a:pPr>
            <a:r>
              <a:rPr lang="en-US" sz="1400" dirty="0">
                <a:solidFill>
                  <a:schemeClr val="accent4"/>
                </a:solidFill>
              </a:rPr>
              <a:t>Tables and the two report pages</a:t>
            </a:r>
            <a:endParaRPr lang="en-US" sz="1400" dirty="0"/>
          </a:p>
        </p:txBody>
      </p:sp>
      <p:sp>
        <p:nvSpPr>
          <p:cNvPr id="16" name="Agenda item 4"/>
          <p:cNvSpPr/>
          <p:nvPr/>
        </p:nvSpPr>
        <p:spPr>
          <a:xfrm>
            <a:off x="822960" y="5074920"/>
            <a:ext cx="5166360" cy="914400"/>
          </a:xfrm>
          <a:prstGeom prst="roundRect">
            <a:avLst>
              <a:gd name="adj" fmla="val 12000"/>
            </a:avLst>
          </a:prstGeom>
          <a:solidFill>
            <a:schemeClr val="bg2"/>
          </a:solidFill>
          <a:ln w="12700">
            <a:solidFill>
              <a:srgbClr val="DDD8CC"/>
            </a:solidFill>
            <a:prstDash val="solid"/>
          </a:ln>
        </p:spPr>
      </p:sp>
      <p:sp>
        <p:nvSpPr>
          <p:cNvPr id="17" name="Text 14"/>
          <p:cNvSpPr txBox="1"/>
          <p:nvPr/>
        </p:nvSpPr>
        <p:spPr>
          <a:xfrm>
            <a:off x="1097280" y="5074920"/>
            <a:ext cx="548640" cy="914400"/>
          </a:xfrm>
          <a:prstGeom prst="rect">
            <a:avLst/>
          </a:prstGeom>
          <a:noFill/>
          <a:ln/>
        </p:spPr>
        <p:txBody>
          <a:bodyPr wrap="square" lIns="0" tIns="0" rIns="0" bIns="0" rtlCol="0" anchor="ctr"/>
          <a:lstStyle/>
          <a:p>
            <a:pPr marL="0" indent="0">
              <a:buNone/>
            </a:pPr>
            <a:r>
              <a:rPr lang="en-US" sz="2800" b="1" dirty="0">
                <a:solidFill>
                  <a:schemeClr val="accent3"/>
                </a:solidFill>
                <a:latin typeface="+mj-lt" pitchFamily="34" charset="0"/>
                <a:ea typeface="+mj-lt" pitchFamily="34" charset="-122"/>
                <a:cs typeface="+mj-lt" pitchFamily="34" charset="-120"/>
              </a:rPr>
              <a:t>4</a:t>
            </a:r>
            <a:endParaRPr lang="en-US" sz="2800" dirty="0"/>
          </a:p>
        </p:txBody>
      </p:sp>
      <p:sp>
        <p:nvSpPr>
          <p:cNvPr id="18" name="Text 15"/>
          <p:cNvSpPr txBox="1"/>
          <p:nvPr/>
        </p:nvSpPr>
        <p:spPr>
          <a:xfrm>
            <a:off x="1783080" y="5202936"/>
            <a:ext cx="4023360" cy="365760"/>
          </a:xfrm>
          <a:prstGeom prst="rect">
            <a:avLst/>
          </a:prstGeom>
          <a:noFill/>
          <a:ln/>
        </p:spPr>
        <p:txBody>
          <a:bodyPr wrap="square" lIns="0" tIns="0" rIns="0" bIns="0" rtlCol="0" anchor="ctr"/>
          <a:lstStyle/>
          <a:p>
            <a:pPr marL="0" indent="0">
              <a:buNone/>
            </a:pPr>
            <a:r>
              <a:rPr lang="en-US" sz="1800" b="1" dirty="0">
                <a:solidFill>
                  <a:schemeClr val="tx1"/>
                </a:solidFill>
              </a:rPr>
              <a:t>KPI analysis</a:t>
            </a:r>
            <a:endParaRPr lang="en-US" sz="1800" dirty="0"/>
          </a:p>
        </p:txBody>
      </p:sp>
      <p:sp>
        <p:nvSpPr>
          <p:cNvPr id="19" name="Text 16"/>
          <p:cNvSpPr txBox="1"/>
          <p:nvPr/>
        </p:nvSpPr>
        <p:spPr>
          <a:xfrm>
            <a:off x="1783080" y="5577840"/>
            <a:ext cx="4023360" cy="274320"/>
          </a:xfrm>
          <a:prstGeom prst="rect">
            <a:avLst/>
          </a:prstGeom>
          <a:noFill/>
          <a:ln/>
        </p:spPr>
        <p:txBody>
          <a:bodyPr wrap="square" lIns="0" tIns="0" rIns="0" bIns="0" rtlCol="0" anchor="ctr"/>
          <a:lstStyle/>
          <a:p>
            <a:pPr marL="0" indent="0">
              <a:buNone/>
            </a:pPr>
            <a:r>
              <a:rPr lang="en-US" sz="1400" dirty="0">
                <a:solidFill>
                  <a:schemeClr val="accent4"/>
                </a:solidFill>
              </a:rPr>
              <a:t>Sales, profit, margin and orders</a:t>
            </a:r>
            <a:endParaRPr lang="en-US" sz="1400" dirty="0"/>
          </a:p>
        </p:txBody>
      </p:sp>
      <p:sp>
        <p:nvSpPr>
          <p:cNvPr id="20" name="Agenda item 5"/>
          <p:cNvSpPr/>
          <p:nvPr/>
        </p:nvSpPr>
        <p:spPr>
          <a:xfrm>
            <a:off x="6172200" y="1783080"/>
            <a:ext cx="5166360" cy="914400"/>
          </a:xfrm>
          <a:prstGeom prst="roundRect">
            <a:avLst>
              <a:gd name="adj" fmla="val 12000"/>
            </a:avLst>
          </a:prstGeom>
          <a:solidFill>
            <a:schemeClr val="bg2"/>
          </a:solidFill>
          <a:ln w="12700">
            <a:solidFill>
              <a:srgbClr val="DDD8CC"/>
            </a:solidFill>
            <a:prstDash val="solid"/>
          </a:ln>
        </p:spPr>
      </p:sp>
      <p:sp>
        <p:nvSpPr>
          <p:cNvPr id="21" name="Text 18"/>
          <p:cNvSpPr txBox="1"/>
          <p:nvPr/>
        </p:nvSpPr>
        <p:spPr>
          <a:xfrm>
            <a:off x="6446520" y="1783080"/>
            <a:ext cx="548640" cy="914400"/>
          </a:xfrm>
          <a:prstGeom prst="rect">
            <a:avLst/>
          </a:prstGeom>
          <a:noFill/>
          <a:ln/>
        </p:spPr>
        <p:txBody>
          <a:bodyPr wrap="square" lIns="0" tIns="0" rIns="0" bIns="0" rtlCol="0" anchor="ctr"/>
          <a:lstStyle/>
          <a:p>
            <a:pPr marL="0" indent="0">
              <a:buNone/>
            </a:pPr>
            <a:r>
              <a:rPr lang="en-US" sz="2800" b="1" dirty="0">
                <a:solidFill>
                  <a:schemeClr val="accent3"/>
                </a:solidFill>
                <a:latin typeface="+mj-lt" pitchFamily="34" charset="0"/>
                <a:ea typeface="+mj-lt" pitchFamily="34" charset="-122"/>
                <a:cs typeface="+mj-lt" pitchFamily="34" charset="-120"/>
              </a:rPr>
              <a:t>5</a:t>
            </a:r>
            <a:endParaRPr lang="en-US" sz="2800" dirty="0"/>
          </a:p>
        </p:txBody>
      </p:sp>
      <p:sp>
        <p:nvSpPr>
          <p:cNvPr id="22" name="Text 19"/>
          <p:cNvSpPr txBox="1"/>
          <p:nvPr/>
        </p:nvSpPr>
        <p:spPr>
          <a:xfrm>
            <a:off x="7132320" y="1911096"/>
            <a:ext cx="4023360" cy="365760"/>
          </a:xfrm>
          <a:prstGeom prst="rect">
            <a:avLst/>
          </a:prstGeom>
          <a:noFill/>
          <a:ln/>
        </p:spPr>
        <p:txBody>
          <a:bodyPr wrap="square" lIns="0" tIns="0" rIns="0" bIns="0" rtlCol="0" anchor="ctr"/>
          <a:lstStyle/>
          <a:p>
            <a:pPr marL="0" indent="0">
              <a:buNone/>
            </a:pPr>
            <a:r>
              <a:rPr lang="en-US" sz="1800" b="1" dirty="0">
                <a:solidFill>
                  <a:schemeClr val="tx1"/>
                </a:solidFill>
              </a:rPr>
              <a:t>Deep dive</a:t>
            </a:r>
            <a:endParaRPr lang="en-US" sz="1800" dirty="0"/>
          </a:p>
        </p:txBody>
      </p:sp>
      <p:sp>
        <p:nvSpPr>
          <p:cNvPr id="23" name="Text 20"/>
          <p:cNvSpPr txBox="1"/>
          <p:nvPr/>
        </p:nvSpPr>
        <p:spPr>
          <a:xfrm>
            <a:off x="7132320" y="2286000"/>
            <a:ext cx="4023360" cy="274320"/>
          </a:xfrm>
          <a:prstGeom prst="rect">
            <a:avLst/>
          </a:prstGeom>
          <a:noFill/>
          <a:ln/>
        </p:spPr>
        <p:txBody>
          <a:bodyPr wrap="square" lIns="0" tIns="0" rIns="0" bIns="0" rtlCol="0" anchor="ctr"/>
          <a:lstStyle/>
          <a:p>
            <a:pPr marL="0" indent="0">
              <a:buNone/>
            </a:pPr>
            <a:r>
              <a:rPr lang="en-US" sz="1400" dirty="0">
                <a:solidFill>
                  <a:schemeClr val="accent4"/>
                </a:solidFill>
              </a:rPr>
              <a:t>Region, category, product and customer segment</a:t>
            </a:r>
            <a:endParaRPr lang="en-US" sz="1400" dirty="0"/>
          </a:p>
        </p:txBody>
      </p:sp>
      <p:sp>
        <p:nvSpPr>
          <p:cNvPr id="24" name="Agenda item 6"/>
          <p:cNvSpPr/>
          <p:nvPr/>
        </p:nvSpPr>
        <p:spPr>
          <a:xfrm>
            <a:off x="6172200" y="2880360"/>
            <a:ext cx="5166360" cy="914400"/>
          </a:xfrm>
          <a:prstGeom prst="roundRect">
            <a:avLst>
              <a:gd name="adj" fmla="val 12000"/>
            </a:avLst>
          </a:prstGeom>
          <a:solidFill>
            <a:schemeClr val="bg2"/>
          </a:solidFill>
          <a:ln w="12700">
            <a:solidFill>
              <a:srgbClr val="DDD8CC"/>
            </a:solidFill>
            <a:prstDash val="solid"/>
          </a:ln>
        </p:spPr>
      </p:sp>
      <p:sp>
        <p:nvSpPr>
          <p:cNvPr id="25" name="Text 22"/>
          <p:cNvSpPr txBox="1"/>
          <p:nvPr/>
        </p:nvSpPr>
        <p:spPr>
          <a:xfrm>
            <a:off x="6446520" y="2880360"/>
            <a:ext cx="548640" cy="914400"/>
          </a:xfrm>
          <a:prstGeom prst="rect">
            <a:avLst/>
          </a:prstGeom>
          <a:noFill/>
          <a:ln/>
        </p:spPr>
        <p:txBody>
          <a:bodyPr wrap="square" lIns="0" tIns="0" rIns="0" bIns="0" rtlCol="0" anchor="ctr"/>
          <a:lstStyle/>
          <a:p>
            <a:pPr marL="0" indent="0">
              <a:buNone/>
            </a:pPr>
            <a:r>
              <a:rPr lang="en-US" sz="2800" b="1" dirty="0">
                <a:solidFill>
                  <a:schemeClr val="accent3"/>
                </a:solidFill>
                <a:latin typeface="+mj-lt" pitchFamily="34" charset="0"/>
                <a:ea typeface="+mj-lt" pitchFamily="34" charset="-122"/>
                <a:cs typeface="+mj-lt" pitchFamily="34" charset="-120"/>
              </a:rPr>
              <a:t>6</a:t>
            </a:r>
            <a:endParaRPr lang="en-US" sz="2800" dirty="0"/>
          </a:p>
        </p:txBody>
      </p:sp>
      <p:sp>
        <p:nvSpPr>
          <p:cNvPr id="26" name="Text 23"/>
          <p:cNvSpPr txBox="1"/>
          <p:nvPr/>
        </p:nvSpPr>
        <p:spPr>
          <a:xfrm>
            <a:off x="7132320" y="3008376"/>
            <a:ext cx="4023360" cy="365760"/>
          </a:xfrm>
          <a:prstGeom prst="rect">
            <a:avLst/>
          </a:prstGeom>
          <a:noFill/>
          <a:ln/>
        </p:spPr>
        <p:txBody>
          <a:bodyPr wrap="square" lIns="0" tIns="0" rIns="0" bIns="0" rtlCol="0" anchor="ctr"/>
          <a:lstStyle/>
          <a:p>
            <a:pPr marL="0" indent="0">
              <a:buNone/>
            </a:pPr>
            <a:r>
              <a:rPr lang="en-US" sz="1800" b="1" dirty="0">
                <a:solidFill>
                  <a:schemeClr val="tx1"/>
                </a:solidFill>
              </a:rPr>
              <a:t>Insights and recommendations</a:t>
            </a:r>
            <a:endParaRPr lang="en-US" sz="1800" dirty="0"/>
          </a:p>
        </p:txBody>
      </p:sp>
      <p:sp>
        <p:nvSpPr>
          <p:cNvPr id="27" name="Text 24"/>
          <p:cNvSpPr txBox="1"/>
          <p:nvPr/>
        </p:nvSpPr>
        <p:spPr>
          <a:xfrm>
            <a:off x="7132320" y="3383280"/>
            <a:ext cx="4023360" cy="274320"/>
          </a:xfrm>
          <a:prstGeom prst="rect">
            <a:avLst/>
          </a:prstGeom>
          <a:noFill/>
          <a:ln/>
        </p:spPr>
        <p:txBody>
          <a:bodyPr wrap="square" lIns="0" tIns="0" rIns="0" bIns="0" rtlCol="0" anchor="ctr"/>
          <a:lstStyle/>
          <a:p>
            <a:pPr marL="0" indent="0">
              <a:buNone/>
            </a:pPr>
            <a:r>
              <a:rPr lang="en-US" sz="1400" dirty="0">
                <a:solidFill>
                  <a:schemeClr val="accent4"/>
                </a:solidFill>
              </a:rPr>
              <a:t>What we found and what to do next</a:t>
            </a:r>
            <a:endParaRPr lang="en-US" sz="1400" dirty="0"/>
          </a:p>
        </p:txBody>
      </p:sp>
      <p:sp>
        <p:nvSpPr>
          <p:cNvPr id="28" name="Agenda item 7"/>
          <p:cNvSpPr/>
          <p:nvPr/>
        </p:nvSpPr>
        <p:spPr>
          <a:xfrm>
            <a:off x="6172200" y="3977640"/>
            <a:ext cx="5166360" cy="914400"/>
          </a:xfrm>
          <a:prstGeom prst="roundRect">
            <a:avLst>
              <a:gd name="adj" fmla="val 12000"/>
            </a:avLst>
          </a:prstGeom>
          <a:solidFill>
            <a:schemeClr val="bg2"/>
          </a:solidFill>
          <a:ln w="12700">
            <a:solidFill>
              <a:srgbClr val="DDD8CC"/>
            </a:solidFill>
            <a:prstDash val="solid"/>
          </a:ln>
        </p:spPr>
      </p:sp>
      <p:sp>
        <p:nvSpPr>
          <p:cNvPr id="29" name="Text 26"/>
          <p:cNvSpPr txBox="1"/>
          <p:nvPr/>
        </p:nvSpPr>
        <p:spPr>
          <a:xfrm>
            <a:off x="6446520" y="3977640"/>
            <a:ext cx="548640" cy="914400"/>
          </a:xfrm>
          <a:prstGeom prst="rect">
            <a:avLst/>
          </a:prstGeom>
          <a:noFill/>
          <a:ln/>
        </p:spPr>
        <p:txBody>
          <a:bodyPr wrap="square" lIns="0" tIns="0" rIns="0" bIns="0" rtlCol="0" anchor="ctr"/>
          <a:lstStyle/>
          <a:p>
            <a:pPr marL="0" indent="0">
              <a:buNone/>
            </a:pPr>
            <a:r>
              <a:rPr lang="en-US" sz="2800" b="1" dirty="0">
                <a:solidFill>
                  <a:schemeClr val="accent3"/>
                </a:solidFill>
                <a:latin typeface="+mj-lt" pitchFamily="34" charset="0"/>
                <a:ea typeface="+mj-lt" pitchFamily="34" charset="-122"/>
                <a:cs typeface="+mj-lt" pitchFamily="34" charset="-120"/>
              </a:rPr>
              <a:t>7</a:t>
            </a:r>
            <a:endParaRPr lang="en-US" sz="2800" dirty="0"/>
          </a:p>
        </p:txBody>
      </p:sp>
      <p:sp>
        <p:nvSpPr>
          <p:cNvPr id="30" name="Text 27"/>
          <p:cNvSpPr txBox="1"/>
          <p:nvPr/>
        </p:nvSpPr>
        <p:spPr>
          <a:xfrm>
            <a:off x="7132320" y="4105656"/>
            <a:ext cx="4023360" cy="365760"/>
          </a:xfrm>
          <a:prstGeom prst="rect">
            <a:avLst/>
          </a:prstGeom>
          <a:noFill/>
          <a:ln/>
        </p:spPr>
        <p:txBody>
          <a:bodyPr wrap="square" lIns="0" tIns="0" rIns="0" bIns="0" rtlCol="0" anchor="ctr"/>
          <a:lstStyle/>
          <a:p>
            <a:pPr marL="0" indent="0">
              <a:buNone/>
            </a:pPr>
            <a:r>
              <a:rPr lang="en-US" sz="1800" b="1" dirty="0">
                <a:solidFill>
                  <a:schemeClr val="tx1"/>
                </a:solidFill>
              </a:rPr>
              <a:t>Conclusion</a:t>
            </a:r>
            <a:endParaRPr lang="en-US" sz="1800" dirty="0"/>
          </a:p>
        </p:txBody>
      </p:sp>
      <p:sp>
        <p:nvSpPr>
          <p:cNvPr id="31" name="Text 28"/>
          <p:cNvSpPr txBox="1"/>
          <p:nvPr/>
        </p:nvSpPr>
        <p:spPr>
          <a:xfrm>
            <a:off x="7132320" y="4480560"/>
            <a:ext cx="4023360" cy="274320"/>
          </a:xfrm>
          <a:prstGeom prst="rect">
            <a:avLst/>
          </a:prstGeom>
          <a:noFill/>
          <a:ln/>
        </p:spPr>
        <p:txBody>
          <a:bodyPr wrap="square" lIns="0" tIns="0" rIns="0" bIns="0" rtlCol="0" anchor="ctr"/>
          <a:lstStyle/>
          <a:p>
            <a:pPr marL="0" indent="0">
              <a:buNone/>
            </a:pPr>
            <a:r>
              <a:rPr lang="en-US" sz="1400" dirty="0">
                <a:solidFill>
                  <a:schemeClr val="accent4"/>
                </a:solidFill>
              </a:rPr>
              <a:t>Summary of the project</a:t>
            </a:r>
            <a:endParaRPr lang="en-US" sz="1400" dirty="0"/>
          </a:p>
        </p:txBody>
      </p:sp>
      <p:sp>
        <p:nvSpPr>
          <p:cNvPr id="3"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66070"/>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548640"/>
            <a:ext cx="10515600" cy="914400"/>
          </a:xfrm>
          <a:prstGeom prst="rect">
            <a:avLst/>
          </a:prstGeom>
          <a:noFill/>
          <a:ln/>
        </p:spPr>
        <p:txBody>
          <a:bodyPr wrap="square" lIns="0" tIns="0" rIns="0" bIns="0" rtlCol="0" anchor="ctr"/>
          <a:lstStyle/>
          <a:p>
            <a:pPr marL="0" indent="0" algn="l">
              <a:buNone/>
            </a:pPr>
            <a:r>
              <a:rPr lang="en-US" sz="4000" b="1" dirty="0">
                <a:solidFill>
                  <a:schemeClr val="tx1"/>
                </a:solidFill>
                <a:latin typeface="+mj-lt" pitchFamily="34" charset="0"/>
                <a:ea typeface="+mj-lt" pitchFamily="34" charset="-122"/>
                <a:cs typeface="+mj-lt" pitchFamily="34" charset="-120"/>
              </a:rPr>
              <a:t>Project Introduction</a:t>
            </a:r>
            <a:endParaRPr lang="en-US" sz="4000" dirty="0"/>
          </a:p>
        </p:txBody>
      </p:sp>
      <p:sp>
        <p:nvSpPr>
          <p:cNvPr id="4" name="Text 1"/>
          <p:cNvSpPr txBox="1"/>
          <p:nvPr/>
        </p:nvSpPr>
        <p:spPr>
          <a:xfrm>
            <a:off x="822960" y="1828800"/>
            <a:ext cx="5120640" cy="3474720"/>
          </a:xfrm>
          <a:prstGeom prst="rect">
            <a:avLst/>
          </a:prstGeom>
          <a:noFill/>
          <a:ln/>
        </p:spPr>
        <p:txBody>
          <a:bodyPr wrap="square" lIns="0" tIns="0" rIns="0" bIns="0" rtlCol="0" anchor="t"/>
          <a:lstStyle/>
          <a:p>
            <a:pPr marL="0" indent="0">
              <a:buNone/>
            </a:pPr>
            <a:r>
              <a:rPr lang="en-US" sz="2200" dirty="0">
                <a:solidFill>
                  <a:schemeClr val="tx1"/>
                </a:solidFill>
              </a:rPr>
              <a:t>This project analyses an ecommerce business using Power BI. The dashboard brings customers, orders, order items, products and categories into one data model, so sales, profit and order performance can be tracked in a single view.</a:t>
            </a:r>
            <a:endParaRPr lang="en-US" sz="2200" dirty="0"/>
          </a:p>
        </p:txBody>
      </p:sp>
      <p:sp>
        <p:nvSpPr>
          <p:cNvPr id="5" name="Dashboard card"/>
          <p:cNvSpPr/>
          <p:nvPr/>
        </p:nvSpPr>
        <p:spPr>
          <a:xfrm>
            <a:off x="6309360" y="1828800"/>
            <a:ext cx="5029200" cy="3566160"/>
          </a:xfrm>
          <a:prstGeom prst="roundRect">
            <a:avLst>
              <a:gd name="adj" fmla="val 3077"/>
            </a:avLst>
          </a:prstGeom>
          <a:solidFill>
            <a:schemeClr val="bg2"/>
          </a:solidFill>
          <a:ln w="12700">
            <a:solidFill>
              <a:srgbClr val="DDD8CC"/>
            </a:solidFill>
            <a:prstDash val="solid"/>
          </a:ln>
        </p:spPr>
      </p:sp>
      <p:sp>
        <p:nvSpPr>
          <p:cNvPr id="6" name="Text 3"/>
          <p:cNvSpPr txBox="1"/>
          <p:nvPr/>
        </p:nvSpPr>
        <p:spPr>
          <a:xfrm>
            <a:off x="6675120" y="2103120"/>
            <a:ext cx="4297680" cy="457200"/>
          </a:xfrm>
          <a:prstGeom prst="rect">
            <a:avLst/>
          </a:prstGeom>
          <a:noFill/>
          <a:ln/>
        </p:spPr>
        <p:txBody>
          <a:bodyPr wrap="square" lIns="0" tIns="0" rIns="0" bIns="0" rtlCol="0" anchor="ctr"/>
          <a:lstStyle/>
          <a:p>
            <a:pPr marL="0" indent="0">
              <a:buNone/>
            </a:pPr>
            <a:r>
              <a:rPr lang="en-US" sz="2000" b="1" dirty="0">
                <a:solidFill>
                  <a:schemeClr val="accent3"/>
                </a:solidFill>
              </a:rPr>
              <a:t>The dashboard shows</a:t>
            </a:r>
            <a:endParaRPr lang="en-US" sz="2000" dirty="0"/>
          </a:p>
        </p:txBody>
      </p:sp>
      <p:sp>
        <p:nvSpPr>
          <p:cNvPr id="7" name="Text 4"/>
          <p:cNvSpPr txBox="1"/>
          <p:nvPr/>
        </p:nvSpPr>
        <p:spPr>
          <a:xfrm>
            <a:off x="6675120" y="2743200"/>
            <a:ext cx="4297680" cy="23774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Sales and profit trend over time</a:t>
            </a:r>
            <a:endParaRPr lang="en-US" sz="1800" dirty="0"/>
          </a:p>
          <a:p>
            <a:pPr marL="342900" indent="-342900">
              <a:spcAft>
                <a:spcPts val="1000"/>
              </a:spcAft>
              <a:buSzPct val="100000"/>
              <a:buChar char="•"/>
            </a:pPr>
            <a:r>
              <a:rPr lang="en-US" sz="1800" dirty="0">
                <a:solidFill>
                  <a:schemeClr val="tx1"/>
                </a:solidFill>
              </a:rPr>
              <a:t>Sales by region and customer segment</a:t>
            </a:r>
            <a:endParaRPr lang="en-US" sz="1800" dirty="0"/>
          </a:p>
          <a:p>
            <a:pPr marL="342900" indent="-342900">
              <a:spcAft>
                <a:spcPts val="1000"/>
              </a:spcAft>
              <a:buSzPct val="100000"/>
              <a:buChar char="•"/>
            </a:pPr>
            <a:r>
              <a:rPr lang="en-US" sz="1800" dirty="0">
                <a:solidFill>
                  <a:schemeClr val="tx1"/>
                </a:solidFill>
              </a:rPr>
              <a:t>Sales by category and top products</a:t>
            </a:r>
            <a:endParaRPr lang="en-US" sz="1800" dirty="0"/>
          </a:p>
          <a:p>
            <a:pPr marL="342900" indent="-342900">
              <a:spcAft>
                <a:spcPts val="1000"/>
              </a:spcAft>
              <a:buSzPct val="100000"/>
              <a:buChar char="•"/>
            </a:pPr>
            <a:r>
              <a:rPr lang="en-US" sz="1800" dirty="0">
                <a:solidFill>
                  <a:schemeClr val="tx1"/>
                </a:solidFill>
              </a:rPr>
              <a:t>Orders by status and payment method</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66070"/>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548640"/>
            <a:ext cx="10515600" cy="914400"/>
          </a:xfrm>
          <a:prstGeom prst="rect">
            <a:avLst/>
          </a:prstGeom>
          <a:noFill/>
          <a:ln/>
        </p:spPr>
        <p:txBody>
          <a:bodyPr wrap="square" lIns="0" tIns="0" rIns="0" bIns="0" rtlCol="0" anchor="ctr"/>
          <a:lstStyle/>
          <a:p>
            <a:pPr marL="0" indent="0" algn="l">
              <a:buNone/>
            </a:pPr>
            <a:r>
              <a:rPr lang="en-US" sz="4000" b="1" dirty="0">
                <a:solidFill>
                  <a:schemeClr val="tx1"/>
                </a:solidFill>
                <a:latin typeface="+mj-lt" pitchFamily="34" charset="0"/>
                <a:ea typeface="+mj-lt" pitchFamily="34" charset="-122"/>
                <a:cs typeface="+mj-lt" pitchFamily="34" charset="-120"/>
              </a:rPr>
              <a:t>Project Objectives</a:t>
            </a:r>
            <a:endParaRPr lang="en-US" sz="4000" dirty="0"/>
          </a:p>
        </p:txBody>
      </p:sp>
      <p:sp>
        <p:nvSpPr>
          <p:cNvPr id="4" name="Objective card 1"/>
          <p:cNvSpPr/>
          <p:nvPr/>
        </p:nvSpPr>
        <p:spPr>
          <a:xfrm>
            <a:off x="822960" y="1828800"/>
            <a:ext cx="5166360" cy="2011680"/>
          </a:xfrm>
          <a:prstGeom prst="roundRect">
            <a:avLst>
              <a:gd name="adj" fmla="val 5455"/>
            </a:avLst>
          </a:prstGeom>
          <a:solidFill>
            <a:schemeClr val="bg2"/>
          </a:solidFill>
          <a:ln w="12700">
            <a:solidFill>
              <a:srgbClr val="DDD8CC"/>
            </a:solidFill>
            <a:prstDash val="solid"/>
          </a:ln>
        </p:spPr>
      </p:sp>
      <p:sp>
        <p:nvSpPr>
          <p:cNvPr id="5" name="Text 2"/>
          <p:cNvSpPr txBox="1"/>
          <p:nvPr/>
        </p:nvSpPr>
        <p:spPr>
          <a:xfrm>
            <a:off x="1143000" y="2103120"/>
            <a:ext cx="4526280" cy="548640"/>
          </a:xfrm>
          <a:prstGeom prst="rect">
            <a:avLst/>
          </a:prstGeom>
          <a:noFill/>
          <a:ln/>
        </p:spPr>
        <p:txBody>
          <a:bodyPr wrap="square" lIns="0" tIns="0" rIns="0" bIns="0" rtlCol="0" anchor="t"/>
          <a:lstStyle/>
          <a:p>
            <a:pPr marL="0" indent="0">
              <a:buNone/>
            </a:pPr>
            <a:r>
              <a:rPr lang="en-US" sz="2200" b="1" dirty="0">
                <a:solidFill>
                  <a:schemeClr val="accent2"/>
                </a:solidFill>
              </a:rPr>
              <a:t>Track overall performance</a:t>
            </a:r>
            <a:endParaRPr lang="en-US" sz="2200" dirty="0"/>
          </a:p>
        </p:txBody>
      </p:sp>
      <p:sp>
        <p:nvSpPr>
          <p:cNvPr id="6" name="Text 3"/>
          <p:cNvSpPr txBox="1"/>
          <p:nvPr/>
        </p:nvSpPr>
        <p:spPr>
          <a:xfrm>
            <a:off x="1143000" y="2743200"/>
            <a:ext cx="4526280" cy="914400"/>
          </a:xfrm>
          <a:prstGeom prst="rect">
            <a:avLst/>
          </a:prstGeom>
          <a:noFill/>
          <a:ln/>
        </p:spPr>
        <p:txBody>
          <a:bodyPr wrap="square" lIns="0" tIns="0" rIns="0" bIns="0" rtlCol="0" anchor="t"/>
          <a:lstStyle/>
          <a:p>
            <a:pPr marL="0" indent="0">
              <a:buNone/>
            </a:pPr>
            <a:r>
              <a:rPr lang="en-US" sz="1800" dirty="0">
                <a:solidFill>
                  <a:schemeClr val="accent4"/>
                </a:solidFill>
              </a:rPr>
              <a:t>Monitor total sales, total profit and total orders in one place.</a:t>
            </a:r>
            <a:endParaRPr lang="en-US" sz="1800" dirty="0"/>
          </a:p>
        </p:txBody>
      </p:sp>
      <p:sp>
        <p:nvSpPr>
          <p:cNvPr id="7" name="Objective card 2"/>
          <p:cNvSpPr/>
          <p:nvPr/>
        </p:nvSpPr>
        <p:spPr>
          <a:xfrm>
            <a:off x="6172200" y="1828800"/>
            <a:ext cx="5166360" cy="2011680"/>
          </a:xfrm>
          <a:prstGeom prst="roundRect">
            <a:avLst>
              <a:gd name="adj" fmla="val 5455"/>
            </a:avLst>
          </a:prstGeom>
          <a:solidFill>
            <a:schemeClr val="bg2"/>
          </a:solidFill>
          <a:ln w="12700">
            <a:solidFill>
              <a:srgbClr val="DDD8CC"/>
            </a:solidFill>
            <a:prstDash val="solid"/>
          </a:ln>
        </p:spPr>
      </p:sp>
      <p:sp>
        <p:nvSpPr>
          <p:cNvPr id="8" name="Text 5"/>
          <p:cNvSpPr txBox="1"/>
          <p:nvPr/>
        </p:nvSpPr>
        <p:spPr>
          <a:xfrm>
            <a:off x="6492240" y="2103120"/>
            <a:ext cx="4526280" cy="548640"/>
          </a:xfrm>
          <a:prstGeom prst="rect">
            <a:avLst/>
          </a:prstGeom>
          <a:noFill/>
          <a:ln/>
        </p:spPr>
        <p:txBody>
          <a:bodyPr wrap="square" lIns="0" tIns="0" rIns="0" bIns="0" rtlCol="0" anchor="t"/>
          <a:lstStyle/>
          <a:p>
            <a:pPr marL="0" indent="0">
              <a:buNone/>
            </a:pPr>
            <a:r>
              <a:rPr lang="en-US" sz="2200" b="1" dirty="0">
                <a:solidFill>
                  <a:schemeClr val="accent2"/>
                </a:solidFill>
              </a:rPr>
              <a:t>Measure profitability</a:t>
            </a:r>
            <a:endParaRPr lang="en-US" sz="2200" dirty="0"/>
          </a:p>
        </p:txBody>
      </p:sp>
      <p:sp>
        <p:nvSpPr>
          <p:cNvPr id="9" name="Text 6"/>
          <p:cNvSpPr txBox="1"/>
          <p:nvPr/>
        </p:nvSpPr>
        <p:spPr>
          <a:xfrm>
            <a:off x="6492240" y="2743200"/>
            <a:ext cx="4526280" cy="914400"/>
          </a:xfrm>
          <a:prstGeom prst="rect">
            <a:avLst/>
          </a:prstGeom>
          <a:noFill/>
          <a:ln/>
        </p:spPr>
        <p:txBody>
          <a:bodyPr wrap="square" lIns="0" tIns="0" rIns="0" bIns="0" rtlCol="0" anchor="t"/>
          <a:lstStyle/>
          <a:p>
            <a:pPr marL="0" indent="0">
              <a:buNone/>
            </a:pPr>
            <a:r>
              <a:rPr lang="en-US" sz="1800" dirty="0">
                <a:solidFill>
                  <a:schemeClr val="accent4"/>
                </a:solidFill>
              </a:rPr>
              <a:t>Understand profit margin and average order value.</a:t>
            </a:r>
            <a:endParaRPr lang="en-US" sz="1800" dirty="0"/>
          </a:p>
        </p:txBody>
      </p:sp>
      <p:sp>
        <p:nvSpPr>
          <p:cNvPr id="10" name="Objective card 3"/>
          <p:cNvSpPr/>
          <p:nvPr/>
        </p:nvSpPr>
        <p:spPr>
          <a:xfrm>
            <a:off x="822960" y="4023360"/>
            <a:ext cx="5166360" cy="2011680"/>
          </a:xfrm>
          <a:prstGeom prst="roundRect">
            <a:avLst>
              <a:gd name="adj" fmla="val 5455"/>
            </a:avLst>
          </a:prstGeom>
          <a:solidFill>
            <a:schemeClr val="bg2"/>
          </a:solidFill>
          <a:ln w="12700">
            <a:solidFill>
              <a:srgbClr val="DDD8CC"/>
            </a:solidFill>
            <a:prstDash val="solid"/>
          </a:ln>
        </p:spPr>
      </p:sp>
      <p:sp>
        <p:nvSpPr>
          <p:cNvPr id="11" name="Text 8"/>
          <p:cNvSpPr txBox="1"/>
          <p:nvPr/>
        </p:nvSpPr>
        <p:spPr>
          <a:xfrm>
            <a:off x="1143000" y="4297680"/>
            <a:ext cx="4526280" cy="548640"/>
          </a:xfrm>
          <a:prstGeom prst="rect">
            <a:avLst/>
          </a:prstGeom>
          <a:noFill/>
          <a:ln/>
        </p:spPr>
        <p:txBody>
          <a:bodyPr wrap="square" lIns="0" tIns="0" rIns="0" bIns="0" rtlCol="0" anchor="t"/>
          <a:lstStyle/>
          <a:p>
            <a:pPr marL="0" indent="0">
              <a:buNone/>
            </a:pPr>
            <a:r>
              <a:rPr lang="en-US" sz="2200" b="1" dirty="0">
                <a:solidFill>
                  <a:schemeClr val="accent2"/>
                </a:solidFill>
              </a:rPr>
              <a:t>Find top performers</a:t>
            </a:r>
            <a:endParaRPr lang="en-US" sz="2200" dirty="0"/>
          </a:p>
        </p:txBody>
      </p:sp>
      <p:sp>
        <p:nvSpPr>
          <p:cNvPr id="12" name="Text 9"/>
          <p:cNvSpPr txBox="1"/>
          <p:nvPr/>
        </p:nvSpPr>
        <p:spPr>
          <a:xfrm>
            <a:off x="1143000" y="4937760"/>
            <a:ext cx="4526280" cy="914400"/>
          </a:xfrm>
          <a:prstGeom prst="rect">
            <a:avLst/>
          </a:prstGeom>
          <a:noFill/>
          <a:ln/>
        </p:spPr>
        <p:txBody>
          <a:bodyPr wrap="square" lIns="0" tIns="0" rIns="0" bIns="0" rtlCol="0" anchor="t"/>
          <a:lstStyle/>
          <a:p>
            <a:pPr marL="0" indent="0">
              <a:buNone/>
            </a:pPr>
            <a:r>
              <a:rPr lang="en-US" sz="1800" dirty="0">
                <a:solidFill>
                  <a:schemeClr val="accent4"/>
                </a:solidFill>
              </a:rPr>
              <a:t>Compare regions, categories and products by sales.</a:t>
            </a:r>
            <a:endParaRPr lang="en-US" sz="1800" dirty="0"/>
          </a:p>
        </p:txBody>
      </p:sp>
      <p:sp>
        <p:nvSpPr>
          <p:cNvPr id="13" name="Objective card 4"/>
          <p:cNvSpPr/>
          <p:nvPr/>
        </p:nvSpPr>
        <p:spPr>
          <a:xfrm>
            <a:off x="6172200" y="4023360"/>
            <a:ext cx="5166360" cy="2011680"/>
          </a:xfrm>
          <a:prstGeom prst="roundRect">
            <a:avLst>
              <a:gd name="adj" fmla="val 5455"/>
            </a:avLst>
          </a:prstGeom>
          <a:solidFill>
            <a:schemeClr val="bg2"/>
          </a:solidFill>
          <a:ln w="12700">
            <a:solidFill>
              <a:srgbClr val="DDD8CC"/>
            </a:solidFill>
            <a:prstDash val="solid"/>
          </a:ln>
        </p:spPr>
      </p:sp>
      <p:sp>
        <p:nvSpPr>
          <p:cNvPr id="14" name="Text 11"/>
          <p:cNvSpPr txBox="1"/>
          <p:nvPr/>
        </p:nvSpPr>
        <p:spPr>
          <a:xfrm>
            <a:off x="6492240" y="4297680"/>
            <a:ext cx="4526280" cy="548640"/>
          </a:xfrm>
          <a:prstGeom prst="rect">
            <a:avLst/>
          </a:prstGeom>
          <a:noFill/>
          <a:ln/>
        </p:spPr>
        <p:txBody>
          <a:bodyPr wrap="square" lIns="0" tIns="0" rIns="0" bIns="0" rtlCol="0" anchor="t"/>
          <a:lstStyle/>
          <a:p>
            <a:pPr marL="0" indent="0">
              <a:buNone/>
            </a:pPr>
            <a:r>
              <a:rPr lang="en-US" sz="2200" b="1" dirty="0">
                <a:solidFill>
                  <a:schemeClr val="accent2"/>
                </a:solidFill>
              </a:rPr>
              <a:t>Understand customers and orders</a:t>
            </a:r>
            <a:endParaRPr lang="en-US" sz="2200" dirty="0"/>
          </a:p>
        </p:txBody>
      </p:sp>
      <p:sp>
        <p:nvSpPr>
          <p:cNvPr id="15" name="Text 12"/>
          <p:cNvSpPr txBox="1"/>
          <p:nvPr/>
        </p:nvSpPr>
        <p:spPr>
          <a:xfrm>
            <a:off x="6492240" y="4937760"/>
            <a:ext cx="4526280" cy="914400"/>
          </a:xfrm>
          <a:prstGeom prst="rect">
            <a:avLst/>
          </a:prstGeom>
          <a:noFill/>
          <a:ln/>
        </p:spPr>
        <p:txBody>
          <a:bodyPr wrap="square" lIns="0" tIns="0" rIns="0" bIns="0" rtlCol="0" anchor="t"/>
          <a:lstStyle/>
          <a:p>
            <a:pPr marL="0" indent="0">
              <a:buNone/>
            </a:pPr>
            <a:r>
              <a:rPr lang="en-US" sz="1800" dirty="0">
                <a:solidFill>
                  <a:schemeClr val="accent4"/>
                </a:solidFill>
              </a:rPr>
              <a:t>Analyse customer segments, order status and payment methods.</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66070"/>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548640"/>
            <a:ext cx="10515600" cy="914400"/>
          </a:xfrm>
          <a:prstGeom prst="rect">
            <a:avLst/>
          </a:prstGeom>
          <a:noFill/>
          <a:ln/>
        </p:spPr>
        <p:txBody>
          <a:bodyPr wrap="square" lIns="0" tIns="0" rIns="0" bIns="0" rtlCol="0" anchor="ctr"/>
          <a:lstStyle/>
          <a:p>
            <a:pPr marL="0" indent="0" algn="l">
              <a:buNone/>
            </a:pPr>
            <a:r>
              <a:rPr lang="en-US" sz="4000" b="1" dirty="0">
                <a:solidFill>
                  <a:schemeClr val="tx1"/>
                </a:solidFill>
                <a:latin typeface="+mj-lt" pitchFamily="34" charset="0"/>
                <a:ea typeface="+mj-lt" pitchFamily="34" charset="-122"/>
                <a:cs typeface="+mj-lt" pitchFamily="34" charset="-120"/>
              </a:rPr>
              <a:t>Data Model</a:t>
            </a:r>
            <a:endParaRPr lang="en-US" sz="4000" dirty="0"/>
          </a:p>
        </p:txBody>
      </p:sp>
      <p:sp>
        <p:nvSpPr>
          <p:cNvPr id="4" name="Table card Customers"/>
          <p:cNvSpPr/>
          <p:nvPr/>
        </p:nvSpPr>
        <p:spPr>
          <a:xfrm>
            <a:off x="822960" y="1828800"/>
            <a:ext cx="1984248" cy="3017520"/>
          </a:xfrm>
          <a:prstGeom prst="roundRect">
            <a:avLst>
              <a:gd name="adj" fmla="val 5530"/>
            </a:avLst>
          </a:prstGeom>
          <a:solidFill>
            <a:schemeClr val="bg2"/>
          </a:solidFill>
          <a:ln w="12700">
            <a:solidFill>
              <a:srgbClr val="DDD8CC"/>
            </a:solidFill>
            <a:prstDash val="solid"/>
          </a:ln>
        </p:spPr>
      </p:sp>
      <p:sp>
        <p:nvSpPr>
          <p:cNvPr id="5" name="Text 2"/>
          <p:cNvSpPr txBox="1"/>
          <p:nvPr/>
        </p:nvSpPr>
        <p:spPr>
          <a:xfrm>
            <a:off x="1005840" y="2011680"/>
            <a:ext cx="1645920" cy="457200"/>
          </a:xfrm>
          <a:prstGeom prst="rect">
            <a:avLst/>
          </a:prstGeom>
          <a:noFill/>
          <a:ln/>
        </p:spPr>
        <p:txBody>
          <a:bodyPr wrap="square" lIns="0" tIns="0" rIns="0" bIns="0" rtlCol="0" anchor="ctr"/>
          <a:lstStyle/>
          <a:p>
            <a:pPr marL="0" indent="0">
              <a:buNone/>
            </a:pPr>
            <a:r>
              <a:rPr lang="en-US" sz="2000" b="1" dirty="0">
                <a:solidFill>
                  <a:schemeClr val="accent2"/>
                </a:solidFill>
                <a:latin typeface="+mj-lt" pitchFamily="34" charset="0"/>
                <a:ea typeface="+mj-lt" pitchFamily="34" charset="-122"/>
                <a:cs typeface="+mj-lt" pitchFamily="34" charset="-120"/>
              </a:rPr>
              <a:t>Customers</a:t>
            </a:r>
            <a:endParaRPr lang="en-US" sz="2000" dirty="0"/>
          </a:p>
        </p:txBody>
      </p:sp>
      <p:sp>
        <p:nvSpPr>
          <p:cNvPr id="6" name="Text 3"/>
          <p:cNvSpPr txBox="1"/>
          <p:nvPr/>
        </p:nvSpPr>
        <p:spPr>
          <a:xfrm>
            <a:off x="1005840" y="2606040"/>
            <a:ext cx="16459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Region</a:t>
            </a:r>
            <a:endParaRPr lang="en-US" sz="1400" dirty="0"/>
          </a:p>
          <a:p>
            <a:pPr marL="342900" indent="-342900">
              <a:spcAft>
                <a:spcPts val="600"/>
              </a:spcAft>
              <a:buSzPct val="100000"/>
              <a:buChar char="•"/>
            </a:pPr>
            <a:r>
              <a:rPr lang="en-US" sz="1400" dirty="0">
                <a:solidFill>
                  <a:schemeClr val="tx1"/>
                </a:solidFill>
              </a:rPr>
              <a:t>Customer segment</a:t>
            </a:r>
            <a:endParaRPr lang="en-US" sz="1400" dirty="0"/>
          </a:p>
        </p:txBody>
      </p:sp>
      <p:sp>
        <p:nvSpPr>
          <p:cNvPr id="7" name="Table card Orders"/>
          <p:cNvSpPr/>
          <p:nvPr/>
        </p:nvSpPr>
        <p:spPr>
          <a:xfrm>
            <a:off x="2944368" y="1828800"/>
            <a:ext cx="1984248" cy="3017520"/>
          </a:xfrm>
          <a:prstGeom prst="roundRect">
            <a:avLst>
              <a:gd name="adj" fmla="val 5530"/>
            </a:avLst>
          </a:prstGeom>
          <a:solidFill>
            <a:schemeClr val="bg2"/>
          </a:solidFill>
          <a:ln w="12700">
            <a:solidFill>
              <a:srgbClr val="DDD8CC"/>
            </a:solidFill>
            <a:prstDash val="solid"/>
          </a:ln>
        </p:spPr>
      </p:sp>
      <p:sp>
        <p:nvSpPr>
          <p:cNvPr id="8" name="Text 5"/>
          <p:cNvSpPr txBox="1"/>
          <p:nvPr/>
        </p:nvSpPr>
        <p:spPr>
          <a:xfrm>
            <a:off x="3127248" y="2011680"/>
            <a:ext cx="1645920" cy="457200"/>
          </a:xfrm>
          <a:prstGeom prst="rect">
            <a:avLst/>
          </a:prstGeom>
          <a:noFill/>
          <a:ln/>
        </p:spPr>
        <p:txBody>
          <a:bodyPr wrap="square" lIns="0" tIns="0" rIns="0" bIns="0" rtlCol="0" anchor="ctr"/>
          <a:lstStyle/>
          <a:p>
            <a:pPr marL="0" indent="0">
              <a:buNone/>
            </a:pPr>
            <a:r>
              <a:rPr lang="en-US" sz="2000" b="1" dirty="0">
                <a:solidFill>
                  <a:schemeClr val="accent2"/>
                </a:solidFill>
                <a:latin typeface="+mj-lt" pitchFamily="34" charset="0"/>
                <a:ea typeface="+mj-lt" pitchFamily="34" charset="-122"/>
                <a:cs typeface="+mj-lt" pitchFamily="34" charset="-120"/>
              </a:rPr>
              <a:t>Orders</a:t>
            </a:r>
            <a:endParaRPr lang="en-US" sz="2000" dirty="0"/>
          </a:p>
        </p:txBody>
      </p:sp>
      <p:sp>
        <p:nvSpPr>
          <p:cNvPr id="9" name="Text 6"/>
          <p:cNvSpPr txBox="1"/>
          <p:nvPr/>
        </p:nvSpPr>
        <p:spPr>
          <a:xfrm>
            <a:off x="3127248" y="2606040"/>
            <a:ext cx="16459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Order status</a:t>
            </a:r>
            <a:endParaRPr lang="en-US" sz="1400" dirty="0"/>
          </a:p>
          <a:p>
            <a:pPr marL="342900" indent="-342900">
              <a:spcAft>
                <a:spcPts val="600"/>
              </a:spcAft>
              <a:buSzPct val="100000"/>
              <a:buChar char="•"/>
            </a:pPr>
            <a:r>
              <a:rPr lang="en-US" sz="1400" dirty="0">
                <a:solidFill>
                  <a:schemeClr val="tx1"/>
                </a:solidFill>
              </a:rPr>
              <a:t>Payment method</a:t>
            </a:r>
            <a:endParaRPr lang="en-US" sz="1400" dirty="0"/>
          </a:p>
        </p:txBody>
      </p:sp>
      <p:sp>
        <p:nvSpPr>
          <p:cNvPr id="10" name="Table card OrderItems"/>
          <p:cNvSpPr/>
          <p:nvPr/>
        </p:nvSpPr>
        <p:spPr>
          <a:xfrm>
            <a:off x="5065776" y="1828800"/>
            <a:ext cx="1984248" cy="3017520"/>
          </a:xfrm>
          <a:prstGeom prst="roundRect">
            <a:avLst>
              <a:gd name="adj" fmla="val 5530"/>
            </a:avLst>
          </a:prstGeom>
          <a:solidFill>
            <a:schemeClr val="bg2"/>
          </a:solidFill>
          <a:ln w="12700">
            <a:solidFill>
              <a:srgbClr val="DDD8CC"/>
            </a:solidFill>
            <a:prstDash val="solid"/>
          </a:ln>
        </p:spPr>
      </p:sp>
      <p:sp>
        <p:nvSpPr>
          <p:cNvPr id="11" name="Text 8"/>
          <p:cNvSpPr txBox="1"/>
          <p:nvPr/>
        </p:nvSpPr>
        <p:spPr>
          <a:xfrm>
            <a:off x="5248656" y="2011680"/>
            <a:ext cx="1645920" cy="457200"/>
          </a:xfrm>
          <a:prstGeom prst="rect">
            <a:avLst/>
          </a:prstGeom>
          <a:noFill/>
          <a:ln/>
        </p:spPr>
        <p:txBody>
          <a:bodyPr wrap="square" lIns="0" tIns="0" rIns="0" bIns="0" rtlCol="0" anchor="ctr"/>
          <a:lstStyle/>
          <a:p>
            <a:pPr marL="0" indent="0">
              <a:buNone/>
            </a:pPr>
            <a:r>
              <a:rPr lang="en-US" sz="2000" b="1" dirty="0">
                <a:solidFill>
                  <a:schemeClr val="accent2"/>
                </a:solidFill>
                <a:latin typeface="+mj-lt" pitchFamily="34" charset="0"/>
                <a:ea typeface="+mj-lt" pitchFamily="34" charset="-122"/>
                <a:cs typeface="+mj-lt" pitchFamily="34" charset="-120"/>
              </a:rPr>
              <a:t>OrderItems</a:t>
            </a:r>
            <a:endParaRPr lang="en-US" sz="2000" dirty="0"/>
          </a:p>
        </p:txBody>
      </p:sp>
      <p:sp>
        <p:nvSpPr>
          <p:cNvPr id="12" name="Text 9"/>
          <p:cNvSpPr txBox="1"/>
          <p:nvPr/>
        </p:nvSpPr>
        <p:spPr>
          <a:xfrm>
            <a:off x="5248656" y="2606040"/>
            <a:ext cx="16459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Total Sales</a:t>
            </a:r>
            <a:endParaRPr lang="en-US" sz="1400" dirty="0"/>
          </a:p>
          <a:p>
            <a:pPr marL="342900" indent="-342900">
              <a:spcAft>
                <a:spcPts val="600"/>
              </a:spcAft>
              <a:buSzPct val="100000"/>
              <a:buChar char="•"/>
            </a:pPr>
            <a:r>
              <a:rPr lang="en-US" sz="1400" dirty="0">
                <a:solidFill>
                  <a:schemeClr val="tx1"/>
                </a:solidFill>
              </a:rPr>
              <a:t>Total Profit</a:t>
            </a:r>
            <a:endParaRPr lang="en-US" sz="1400" dirty="0"/>
          </a:p>
          <a:p>
            <a:pPr marL="342900" indent="-342900">
              <a:spcAft>
                <a:spcPts val="600"/>
              </a:spcAft>
              <a:buSzPct val="100000"/>
              <a:buChar char="•"/>
            </a:pPr>
            <a:r>
              <a:rPr lang="en-US" sz="1400" dirty="0">
                <a:solidFill>
                  <a:schemeClr val="tx1"/>
                </a:solidFill>
              </a:rPr>
              <a:t>Profit Margin %</a:t>
            </a:r>
            <a:endParaRPr lang="en-US" sz="1400" dirty="0"/>
          </a:p>
          <a:p>
            <a:pPr marL="342900" indent="-342900">
              <a:spcAft>
                <a:spcPts val="600"/>
              </a:spcAft>
              <a:buSzPct val="100000"/>
              <a:buChar char="•"/>
            </a:pPr>
            <a:r>
              <a:rPr lang="en-US" sz="1400" dirty="0">
                <a:solidFill>
                  <a:schemeClr val="tx1"/>
                </a:solidFill>
              </a:rPr>
              <a:t>Total Orders</a:t>
            </a:r>
            <a:endParaRPr lang="en-US" sz="1400" dirty="0"/>
          </a:p>
          <a:p>
            <a:pPr marL="342900" indent="-342900">
              <a:spcAft>
                <a:spcPts val="600"/>
              </a:spcAft>
              <a:buSzPct val="100000"/>
              <a:buChar char="•"/>
            </a:pPr>
            <a:r>
              <a:rPr lang="en-US" sz="1400" dirty="0">
                <a:solidFill>
                  <a:schemeClr val="tx1"/>
                </a:solidFill>
              </a:rPr>
              <a:t>Average Order Value</a:t>
            </a:r>
            <a:endParaRPr lang="en-US" sz="1400" dirty="0"/>
          </a:p>
        </p:txBody>
      </p:sp>
      <p:sp>
        <p:nvSpPr>
          <p:cNvPr id="13" name="Table card Products"/>
          <p:cNvSpPr/>
          <p:nvPr/>
        </p:nvSpPr>
        <p:spPr>
          <a:xfrm>
            <a:off x="7187184" y="1828800"/>
            <a:ext cx="1984248" cy="3017520"/>
          </a:xfrm>
          <a:prstGeom prst="roundRect">
            <a:avLst>
              <a:gd name="adj" fmla="val 5530"/>
            </a:avLst>
          </a:prstGeom>
          <a:solidFill>
            <a:schemeClr val="bg2"/>
          </a:solidFill>
          <a:ln w="12700">
            <a:solidFill>
              <a:srgbClr val="DDD8CC"/>
            </a:solidFill>
            <a:prstDash val="solid"/>
          </a:ln>
        </p:spPr>
      </p:sp>
      <p:sp>
        <p:nvSpPr>
          <p:cNvPr id="14" name="Text 11"/>
          <p:cNvSpPr txBox="1"/>
          <p:nvPr/>
        </p:nvSpPr>
        <p:spPr>
          <a:xfrm>
            <a:off x="7370064" y="2011680"/>
            <a:ext cx="1645920" cy="457200"/>
          </a:xfrm>
          <a:prstGeom prst="rect">
            <a:avLst/>
          </a:prstGeom>
          <a:noFill/>
          <a:ln/>
        </p:spPr>
        <p:txBody>
          <a:bodyPr wrap="square" lIns="0" tIns="0" rIns="0" bIns="0" rtlCol="0" anchor="ctr"/>
          <a:lstStyle/>
          <a:p>
            <a:pPr marL="0" indent="0">
              <a:buNone/>
            </a:pPr>
            <a:r>
              <a:rPr lang="en-US" sz="2000" b="1" dirty="0">
                <a:solidFill>
                  <a:schemeClr val="accent2"/>
                </a:solidFill>
                <a:latin typeface="+mj-lt" pitchFamily="34" charset="0"/>
                <a:ea typeface="+mj-lt" pitchFamily="34" charset="-122"/>
                <a:cs typeface="+mj-lt" pitchFamily="34" charset="-120"/>
              </a:rPr>
              <a:t>Products</a:t>
            </a:r>
            <a:endParaRPr lang="en-US" sz="2000" dirty="0"/>
          </a:p>
        </p:txBody>
      </p:sp>
      <p:sp>
        <p:nvSpPr>
          <p:cNvPr id="15" name="Text 12"/>
          <p:cNvSpPr txBox="1"/>
          <p:nvPr/>
        </p:nvSpPr>
        <p:spPr>
          <a:xfrm>
            <a:off x="7370064" y="2606040"/>
            <a:ext cx="16459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Product name</a:t>
            </a:r>
            <a:endParaRPr lang="en-US" sz="1400" dirty="0"/>
          </a:p>
        </p:txBody>
      </p:sp>
      <p:sp>
        <p:nvSpPr>
          <p:cNvPr id="16" name="Table card Categories"/>
          <p:cNvSpPr/>
          <p:nvPr/>
        </p:nvSpPr>
        <p:spPr>
          <a:xfrm>
            <a:off x="9308592" y="1828800"/>
            <a:ext cx="1984248" cy="3017520"/>
          </a:xfrm>
          <a:prstGeom prst="roundRect">
            <a:avLst>
              <a:gd name="adj" fmla="val 5530"/>
            </a:avLst>
          </a:prstGeom>
          <a:solidFill>
            <a:schemeClr val="bg2"/>
          </a:solidFill>
          <a:ln w="12700">
            <a:solidFill>
              <a:srgbClr val="DDD8CC"/>
            </a:solidFill>
            <a:prstDash val="solid"/>
          </a:ln>
        </p:spPr>
      </p:sp>
      <p:sp>
        <p:nvSpPr>
          <p:cNvPr id="17" name="Text 14"/>
          <p:cNvSpPr txBox="1"/>
          <p:nvPr/>
        </p:nvSpPr>
        <p:spPr>
          <a:xfrm>
            <a:off x="9491472" y="2011680"/>
            <a:ext cx="1645920" cy="457200"/>
          </a:xfrm>
          <a:prstGeom prst="rect">
            <a:avLst/>
          </a:prstGeom>
          <a:noFill/>
          <a:ln/>
        </p:spPr>
        <p:txBody>
          <a:bodyPr wrap="square" lIns="0" tIns="0" rIns="0" bIns="0" rtlCol="0" anchor="ctr"/>
          <a:lstStyle/>
          <a:p>
            <a:pPr marL="0" indent="0">
              <a:buNone/>
            </a:pPr>
            <a:r>
              <a:rPr lang="en-US" sz="2000" b="1" dirty="0">
                <a:solidFill>
                  <a:schemeClr val="accent2"/>
                </a:solidFill>
                <a:latin typeface="+mj-lt" pitchFamily="34" charset="0"/>
                <a:ea typeface="+mj-lt" pitchFamily="34" charset="-122"/>
                <a:cs typeface="+mj-lt" pitchFamily="34" charset="-120"/>
              </a:rPr>
              <a:t>Categories</a:t>
            </a:r>
            <a:endParaRPr lang="en-US" sz="2000" dirty="0"/>
          </a:p>
        </p:txBody>
      </p:sp>
      <p:sp>
        <p:nvSpPr>
          <p:cNvPr id="18" name="Text 15"/>
          <p:cNvSpPr txBox="1"/>
          <p:nvPr/>
        </p:nvSpPr>
        <p:spPr>
          <a:xfrm>
            <a:off x="9491472" y="2606040"/>
            <a:ext cx="16459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Category name</a:t>
            </a:r>
            <a:endParaRPr lang="en-US" sz="1400" dirty="0"/>
          </a:p>
        </p:txBody>
      </p:sp>
      <p:sp>
        <p:nvSpPr>
          <p:cNvPr id="19" name="Text 16"/>
          <p:cNvSpPr txBox="1"/>
          <p:nvPr/>
        </p:nvSpPr>
        <p:spPr>
          <a:xfrm>
            <a:off x="822960" y="5212080"/>
            <a:ext cx="10424160" cy="731520"/>
          </a:xfrm>
          <a:prstGeom prst="rect">
            <a:avLst/>
          </a:prstGeom>
          <a:noFill/>
          <a:ln/>
        </p:spPr>
        <p:txBody>
          <a:bodyPr wrap="square" lIns="0" tIns="0" rIns="0" bIns="0" rtlCol="0" anchor="t"/>
          <a:lstStyle/>
          <a:p>
            <a:pPr marL="0" indent="0">
              <a:buNone/>
            </a:pPr>
            <a:r>
              <a:rPr lang="en-US" sz="1800" dirty="0">
                <a:solidFill>
                  <a:schemeClr val="accent4"/>
                </a:solidFill>
              </a:rPr>
              <a:t>Every KPI is a measure on OrderItems, so each chart can be filtered by customer, order, product or category.</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66070"/>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548640"/>
            <a:ext cx="10515600" cy="914400"/>
          </a:xfrm>
          <a:prstGeom prst="rect">
            <a:avLst/>
          </a:prstGeom>
          <a:noFill/>
          <a:ln/>
        </p:spPr>
        <p:txBody>
          <a:bodyPr wrap="square" lIns="0" tIns="0" rIns="0" bIns="0" rtlCol="0" anchor="ctr"/>
          <a:lstStyle/>
          <a:p>
            <a:pPr marL="0" indent="0" algn="l">
              <a:buNone/>
            </a:pPr>
            <a:r>
              <a:rPr lang="en-US" sz="4000" b="1" dirty="0">
                <a:solidFill>
                  <a:schemeClr val="tx1"/>
                </a:solidFill>
                <a:latin typeface="+mj-lt" pitchFamily="34" charset="0"/>
                <a:ea typeface="+mj-lt" pitchFamily="34" charset="-122"/>
                <a:cs typeface="+mj-lt" pitchFamily="34" charset="-120"/>
              </a:rPr>
              <a:t>Dashboard Overview</a:t>
            </a:r>
            <a:endParaRPr lang="en-US" sz="4000" dirty="0"/>
          </a:p>
        </p:txBody>
      </p:sp>
      <p:sp>
        <p:nvSpPr>
          <p:cNvPr id="4" name="Page card 1"/>
          <p:cNvSpPr/>
          <p:nvPr/>
        </p:nvSpPr>
        <p:spPr>
          <a:xfrm>
            <a:off x="822960" y="1828800"/>
            <a:ext cx="5166360" cy="3749040"/>
          </a:xfrm>
          <a:prstGeom prst="roundRect">
            <a:avLst>
              <a:gd name="adj" fmla="val 2927"/>
            </a:avLst>
          </a:prstGeom>
          <a:solidFill>
            <a:schemeClr val="bg2"/>
          </a:solidFill>
          <a:ln w="12700">
            <a:solidFill>
              <a:srgbClr val="DDD8CC"/>
            </a:solidFill>
            <a:prstDash val="solid"/>
          </a:ln>
        </p:spPr>
      </p:sp>
      <p:sp>
        <p:nvSpPr>
          <p:cNvPr id="5" name="Text 2"/>
          <p:cNvSpPr txBox="1"/>
          <p:nvPr/>
        </p:nvSpPr>
        <p:spPr>
          <a:xfrm>
            <a:off x="1143000" y="2103120"/>
            <a:ext cx="4526280" cy="457200"/>
          </a:xfrm>
          <a:prstGeom prst="rect">
            <a:avLst/>
          </a:prstGeom>
          <a:noFill/>
          <a:ln/>
        </p:spPr>
        <p:txBody>
          <a:bodyPr wrap="square" lIns="0" tIns="0" rIns="0" bIns="0" rtlCol="0" anchor="ctr"/>
          <a:lstStyle/>
          <a:p>
            <a:pPr marL="0" indent="0">
              <a:buNone/>
            </a:pPr>
            <a:r>
              <a:rPr lang="en-US" sz="2200" b="1" dirty="0">
                <a:solidFill>
                  <a:schemeClr val="accent3"/>
                </a:solidFill>
                <a:latin typeface="+mj-lt" pitchFamily="34" charset="0"/>
                <a:ea typeface="+mj-lt" pitchFamily="34" charset="-122"/>
                <a:cs typeface="+mj-lt" pitchFamily="34" charset="-120"/>
              </a:rPr>
              <a:t>Page 1: Orders overview</a:t>
            </a:r>
            <a:endParaRPr lang="en-US" sz="2200" dirty="0"/>
          </a:p>
        </p:txBody>
      </p:sp>
      <p:sp>
        <p:nvSpPr>
          <p:cNvPr id="6" name="Text 3"/>
          <p:cNvSpPr txBox="1"/>
          <p:nvPr/>
        </p:nvSpPr>
        <p:spPr>
          <a:xfrm>
            <a:off x="1143000" y="2743200"/>
            <a:ext cx="4526280" cy="26517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Cards for sales, profit, margin, orders and average order value</a:t>
            </a:r>
            <a:endParaRPr lang="en-US" sz="1800" dirty="0"/>
          </a:p>
          <a:p>
            <a:pPr marL="342900" indent="-342900">
              <a:spcAft>
                <a:spcPts val="1000"/>
              </a:spcAft>
              <a:buSzPct val="100000"/>
              <a:buChar char="•"/>
            </a:pPr>
            <a:r>
              <a:rPr lang="en-US" sz="1800" dirty="0">
                <a:solidFill>
                  <a:schemeClr val="tx1"/>
                </a:solidFill>
              </a:rPr>
              <a:t>Total orders chart</a:t>
            </a:r>
            <a:endParaRPr lang="en-US" sz="1800" dirty="0"/>
          </a:p>
          <a:p>
            <a:pPr marL="342900" indent="-342900">
              <a:spcAft>
                <a:spcPts val="1000"/>
              </a:spcAft>
              <a:buSzPct val="100000"/>
              <a:buChar char="•"/>
            </a:pPr>
            <a:r>
              <a:rPr lang="en-US" sz="1800" dirty="0">
                <a:solidFill>
                  <a:schemeClr val="tx1"/>
                </a:solidFill>
              </a:rPr>
              <a:t>Order status by payment method</a:t>
            </a:r>
            <a:endParaRPr lang="en-US" sz="1800" dirty="0"/>
          </a:p>
        </p:txBody>
      </p:sp>
      <p:sp>
        <p:nvSpPr>
          <p:cNvPr id="7" name="Page card 2"/>
          <p:cNvSpPr/>
          <p:nvPr/>
        </p:nvSpPr>
        <p:spPr>
          <a:xfrm>
            <a:off x="6172200" y="1828800"/>
            <a:ext cx="5166360" cy="3749040"/>
          </a:xfrm>
          <a:prstGeom prst="roundRect">
            <a:avLst>
              <a:gd name="adj" fmla="val 2927"/>
            </a:avLst>
          </a:prstGeom>
          <a:solidFill>
            <a:schemeClr val="bg2"/>
          </a:solidFill>
          <a:ln w="12700">
            <a:solidFill>
              <a:srgbClr val="DDD8CC"/>
            </a:solidFill>
            <a:prstDash val="solid"/>
          </a:ln>
        </p:spPr>
      </p:sp>
      <p:sp>
        <p:nvSpPr>
          <p:cNvPr id="8" name="Text 5"/>
          <p:cNvSpPr txBox="1"/>
          <p:nvPr/>
        </p:nvSpPr>
        <p:spPr>
          <a:xfrm>
            <a:off x="6492240" y="2103120"/>
            <a:ext cx="4526280" cy="457200"/>
          </a:xfrm>
          <a:prstGeom prst="rect">
            <a:avLst/>
          </a:prstGeom>
          <a:noFill/>
          <a:ln/>
        </p:spPr>
        <p:txBody>
          <a:bodyPr wrap="square" lIns="0" tIns="0" rIns="0" bIns="0" rtlCol="0" anchor="ctr"/>
          <a:lstStyle/>
          <a:p>
            <a:pPr marL="0" indent="0">
              <a:buNone/>
            </a:pPr>
            <a:r>
              <a:rPr lang="en-US" sz="2200" b="1" dirty="0">
                <a:solidFill>
                  <a:schemeClr val="accent3"/>
                </a:solidFill>
                <a:latin typeface="+mj-lt" pitchFamily="34" charset="0"/>
                <a:ea typeface="+mj-lt" pitchFamily="34" charset="-122"/>
                <a:cs typeface="+mj-lt" pitchFamily="34" charset="-120"/>
              </a:rPr>
              <a:t>Page 2: Sales dashboard</a:t>
            </a:r>
            <a:endParaRPr lang="en-US" sz="2200" dirty="0"/>
          </a:p>
        </p:txBody>
      </p:sp>
      <p:sp>
        <p:nvSpPr>
          <p:cNvPr id="9" name="Text 6"/>
          <p:cNvSpPr txBox="1"/>
          <p:nvPr/>
        </p:nvSpPr>
        <p:spPr>
          <a:xfrm>
            <a:off x="6492240" y="2743200"/>
            <a:ext cx="4526280" cy="26517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Region slicer</a:t>
            </a:r>
            <a:endParaRPr lang="en-US" sz="1800" dirty="0"/>
          </a:p>
          <a:p>
            <a:pPr marL="342900" indent="-342900">
              <a:spcAft>
                <a:spcPts val="1000"/>
              </a:spcAft>
              <a:buSzPct val="100000"/>
              <a:buChar char="•"/>
            </a:pPr>
            <a:r>
              <a:rPr lang="en-US" sz="1800" dirty="0">
                <a:solidFill>
                  <a:schemeClr val="tx1"/>
                </a:solidFill>
              </a:rPr>
              <a:t>Sales vs profit trend</a:t>
            </a:r>
            <a:endParaRPr lang="en-US" sz="1800" dirty="0"/>
          </a:p>
          <a:p>
            <a:pPr marL="342900" indent="-342900">
              <a:spcAft>
                <a:spcPts val="1000"/>
              </a:spcAft>
              <a:buSzPct val="100000"/>
              <a:buChar char="•"/>
            </a:pPr>
            <a:r>
              <a:rPr lang="en-US" sz="1800" dirty="0">
                <a:solidFill>
                  <a:schemeClr val="tx1"/>
                </a:solidFill>
              </a:rPr>
              <a:t>Sales by region, category, segment and product</a:t>
            </a:r>
            <a:endParaRPr lang="en-US" sz="1800" dirty="0"/>
          </a:p>
          <a:p>
            <a:pPr marL="342900" indent="-342900">
              <a:spcAft>
                <a:spcPts val="1000"/>
              </a:spcAft>
              <a:buSzPct val="100000"/>
              <a:buChar char="•"/>
            </a:pPr>
            <a:r>
              <a:rPr lang="en-US" sz="1800" dirty="0">
                <a:solidFill>
                  <a:schemeClr val="tx1"/>
                </a:solidFill>
              </a:rPr>
              <a:t>Orders by status</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66070"/>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548640"/>
            <a:ext cx="10515600" cy="914400"/>
          </a:xfrm>
          <a:prstGeom prst="rect">
            <a:avLst/>
          </a:prstGeom>
          <a:noFill/>
          <a:ln/>
        </p:spPr>
        <p:txBody>
          <a:bodyPr wrap="square" lIns="0" tIns="0" rIns="0" bIns="0" rtlCol="0" anchor="ctr"/>
          <a:lstStyle/>
          <a:p>
            <a:pPr marL="0" indent="0" algn="l">
              <a:buNone/>
            </a:pPr>
            <a:r>
              <a:rPr lang="en-US" sz="4000" b="1" dirty="0">
                <a:solidFill>
                  <a:schemeClr val="tx1"/>
                </a:solidFill>
                <a:latin typeface="+mj-lt" pitchFamily="34" charset="0"/>
                <a:ea typeface="+mj-lt" pitchFamily="34" charset="-122"/>
                <a:cs typeface="+mj-lt" pitchFamily="34" charset="-120"/>
              </a:rPr>
              <a:t>KPI Analysis</a:t>
            </a:r>
            <a:endParaRPr lang="en-US" sz="4000" dirty="0"/>
          </a:p>
        </p:txBody>
      </p:sp>
      <p:sp>
        <p:nvSpPr>
          <p:cNvPr id="4" name="KPI card 1"/>
          <p:cNvSpPr/>
          <p:nvPr/>
        </p:nvSpPr>
        <p:spPr>
          <a:xfrm>
            <a:off x="822960" y="1828800"/>
            <a:ext cx="2450592" cy="2468880"/>
          </a:xfrm>
          <a:prstGeom prst="roundRect">
            <a:avLst>
              <a:gd name="adj" fmla="val 4478"/>
            </a:avLst>
          </a:prstGeom>
          <a:solidFill>
            <a:schemeClr val="bg2"/>
          </a:solidFill>
          <a:ln w="12700">
            <a:solidFill>
              <a:srgbClr val="DDD8CC"/>
            </a:solidFill>
            <a:prstDash val="solid"/>
          </a:ln>
        </p:spPr>
      </p:sp>
      <p:sp>
        <p:nvSpPr>
          <p:cNvPr id="5" name="Text 2"/>
          <p:cNvSpPr txBox="1"/>
          <p:nvPr/>
        </p:nvSpPr>
        <p:spPr>
          <a:xfrm>
            <a:off x="1051560" y="2057400"/>
            <a:ext cx="2011680" cy="365760"/>
          </a:xfrm>
          <a:prstGeom prst="rect">
            <a:avLst/>
          </a:prstGeom>
          <a:noFill/>
          <a:ln/>
        </p:spPr>
        <p:txBody>
          <a:bodyPr wrap="square" lIns="0" tIns="0" rIns="0" bIns="0" rtlCol="0" anchor="ctr"/>
          <a:lstStyle/>
          <a:p>
            <a:pPr marL="0" indent="0">
              <a:buNone/>
            </a:pPr>
            <a:r>
              <a:rPr lang="en-US" sz="1800" b="1" dirty="0">
                <a:solidFill>
                  <a:schemeClr val="accent3"/>
                </a:solidFill>
              </a:rPr>
              <a:t>Total Sales</a:t>
            </a:r>
            <a:endParaRPr lang="en-US" sz="1800" dirty="0"/>
          </a:p>
        </p:txBody>
      </p:sp>
      <p:sp>
        <p:nvSpPr>
          <p:cNvPr id="6" name="Text 3"/>
          <p:cNvSpPr txBox="1"/>
          <p:nvPr/>
        </p:nvSpPr>
        <p:spPr>
          <a:xfrm>
            <a:off x="1051560" y="2560320"/>
            <a:ext cx="2221992" cy="731520"/>
          </a:xfrm>
          <a:prstGeom prst="rect">
            <a:avLst/>
          </a:prstGeom>
          <a:noFill/>
          <a:ln/>
        </p:spPr>
        <p:txBody>
          <a:bodyPr wrap="square" lIns="0" tIns="0" rIns="0" bIns="0" rtlCol="0" anchor="ctr"/>
          <a:lstStyle/>
          <a:p>
            <a:pPr marL="0" indent="0">
              <a:buNone/>
            </a:pPr>
            <a:r>
              <a:rPr lang="en-US" sz="4000" b="1" dirty="0">
                <a:solidFill>
                  <a:schemeClr val="accent2"/>
                </a:solidFill>
                <a:latin typeface="+mj-lt" pitchFamily="34" charset="0"/>
                <a:ea typeface="+mj-lt" pitchFamily="34" charset="-122"/>
                <a:cs typeface="+mj-lt" pitchFamily="34" charset="-120"/>
              </a:rPr>
              <a:t>₹</a:t>
            </a:r>
            <a:r>
              <a:rPr lang="en-US" sz="4000" b="1" dirty="0" smtClean="0">
                <a:solidFill>
                  <a:schemeClr val="accent2"/>
                </a:solidFill>
                <a:latin typeface="+mj-lt" pitchFamily="34" charset="0"/>
                <a:ea typeface="+mj-lt" pitchFamily="34" charset="-122"/>
                <a:cs typeface="+mj-lt" pitchFamily="34" charset="-120"/>
              </a:rPr>
              <a:t>[8.49M]</a:t>
            </a:r>
            <a:endParaRPr lang="en-US" sz="4000" dirty="0"/>
          </a:p>
        </p:txBody>
      </p:sp>
      <p:sp>
        <p:nvSpPr>
          <p:cNvPr id="7" name="Text 4"/>
          <p:cNvSpPr txBox="1"/>
          <p:nvPr/>
        </p:nvSpPr>
        <p:spPr>
          <a:xfrm>
            <a:off x="1051560" y="3474720"/>
            <a:ext cx="2011680" cy="640080"/>
          </a:xfrm>
          <a:prstGeom prst="rect">
            <a:avLst/>
          </a:prstGeom>
          <a:noFill/>
          <a:ln/>
        </p:spPr>
        <p:txBody>
          <a:bodyPr wrap="square" lIns="0" tIns="0" rIns="0" bIns="0" rtlCol="0" anchor="t"/>
          <a:lstStyle/>
          <a:p>
            <a:pPr marL="0" indent="0">
              <a:buNone/>
            </a:pPr>
            <a:r>
              <a:rPr lang="en-US" sz="1400" dirty="0">
                <a:solidFill>
                  <a:schemeClr val="accent4"/>
                </a:solidFill>
              </a:rPr>
              <a:t>Revenue from all order items</a:t>
            </a:r>
            <a:endParaRPr lang="en-US" sz="1400" dirty="0"/>
          </a:p>
        </p:txBody>
      </p:sp>
      <p:sp>
        <p:nvSpPr>
          <p:cNvPr id="8" name="KPI card 2"/>
          <p:cNvSpPr/>
          <p:nvPr/>
        </p:nvSpPr>
        <p:spPr>
          <a:xfrm>
            <a:off x="3502152" y="1828800"/>
            <a:ext cx="2450592" cy="2468880"/>
          </a:xfrm>
          <a:prstGeom prst="roundRect">
            <a:avLst>
              <a:gd name="adj" fmla="val 4478"/>
            </a:avLst>
          </a:prstGeom>
          <a:solidFill>
            <a:schemeClr val="bg2"/>
          </a:solidFill>
          <a:ln w="12700">
            <a:solidFill>
              <a:srgbClr val="DDD8CC"/>
            </a:solidFill>
            <a:prstDash val="solid"/>
          </a:ln>
        </p:spPr>
      </p:sp>
      <p:sp>
        <p:nvSpPr>
          <p:cNvPr id="9" name="Text 6"/>
          <p:cNvSpPr txBox="1"/>
          <p:nvPr/>
        </p:nvSpPr>
        <p:spPr>
          <a:xfrm>
            <a:off x="3730752" y="2057400"/>
            <a:ext cx="2011680" cy="365760"/>
          </a:xfrm>
          <a:prstGeom prst="rect">
            <a:avLst/>
          </a:prstGeom>
          <a:noFill/>
          <a:ln/>
        </p:spPr>
        <p:txBody>
          <a:bodyPr wrap="square" lIns="0" tIns="0" rIns="0" bIns="0" rtlCol="0" anchor="ctr"/>
          <a:lstStyle/>
          <a:p>
            <a:pPr marL="0" indent="0">
              <a:buNone/>
            </a:pPr>
            <a:r>
              <a:rPr lang="en-US" sz="1800" b="1" dirty="0">
                <a:solidFill>
                  <a:schemeClr val="accent3"/>
                </a:solidFill>
              </a:rPr>
              <a:t>Total Profit</a:t>
            </a:r>
            <a:endParaRPr lang="en-US" sz="1800" dirty="0"/>
          </a:p>
        </p:txBody>
      </p:sp>
      <p:sp>
        <p:nvSpPr>
          <p:cNvPr id="10" name="Text 7"/>
          <p:cNvSpPr txBox="1"/>
          <p:nvPr/>
        </p:nvSpPr>
        <p:spPr>
          <a:xfrm>
            <a:off x="3730752" y="2560320"/>
            <a:ext cx="2144066" cy="822960"/>
          </a:xfrm>
          <a:prstGeom prst="rect">
            <a:avLst/>
          </a:prstGeom>
          <a:noFill/>
          <a:ln/>
        </p:spPr>
        <p:txBody>
          <a:bodyPr wrap="square" lIns="0" tIns="0" rIns="0" bIns="0" rtlCol="0" anchor="ctr"/>
          <a:lstStyle/>
          <a:p>
            <a:pPr marL="0" indent="0">
              <a:buNone/>
            </a:pPr>
            <a:r>
              <a:rPr lang="en-US" sz="4000" b="1" dirty="0">
                <a:solidFill>
                  <a:schemeClr val="accent2"/>
                </a:solidFill>
                <a:latin typeface="+mj-lt" pitchFamily="34" charset="0"/>
                <a:ea typeface="+mj-lt" pitchFamily="34" charset="-122"/>
                <a:cs typeface="+mj-lt" pitchFamily="34" charset="-120"/>
              </a:rPr>
              <a:t>₹</a:t>
            </a:r>
            <a:r>
              <a:rPr lang="en-US" sz="4000" b="1" dirty="0" smtClean="0">
                <a:solidFill>
                  <a:schemeClr val="accent2"/>
                </a:solidFill>
                <a:latin typeface="+mj-lt" pitchFamily="34" charset="0"/>
                <a:ea typeface="+mj-lt" pitchFamily="34" charset="-122"/>
                <a:cs typeface="+mj-lt" pitchFamily="34" charset="-120"/>
              </a:rPr>
              <a:t>[3.75M]</a:t>
            </a:r>
            <a:endParaRPr lang="en-US" sz="4000" dirty="0"/>
          </a:p>
        </p:txBody>
      </p:sp>
      <p:sp>
        <p:nvSpPr>
          <p:cNvPr id="11" name="Text 8"/>
          <p:cNvSpPr txBox="1"/>
          <p:nvPr/>
        </p:nvSpPr>
        <p:spPr>
          <a:xfrm>
            <a:off x="3730752" y="3474720"/>
            <a:ext cx="2011680" cy="640080"/>
          </a:xfrm>
          <a:prstGeom prst="rect">
            <a:avLst/>
          </a:prstGeom>
          <a:noFill/>
          <a:ln/>
        </p:spPr>
        <p:txBody>
          <a:bodyPr wrap="square" lIns="0" tIns="0" rIns="0" bIns="0" rtlCol="0" anchor="t"/>
          <a:lstStyle/>
          <a:p>
            <a:pPr marL="0" indent="0">
              <a:buNone/>
            </a:pPr>
            <a:r>
              <a:rPr lang="en-US" sz="1400" dirty="0">
                <a:solidFill>
                  <a:schemeClr val="accent4"/>
                </a:solidFill>
              </a:rPr>
              <a:t>Earnings after costs</a:t>
            </a:r>
            <a:endParaRPr lang="en-US" sz="1400" dirty="0"/>
          </a:p>
        </p:txBody>
      </p:sp>
      <p:sp>
        <p:nvSpPr>
          <p:cNvPr id="12" name="KPI card 3"/>
          <p:cNvSpPr/>
          <p:nvPr/>
        </p:nvSpPr>
        <p:spPr>
          <a:xfrm>
            <a:off x="6181344" y="1828800"/>
            <a:ext cx="2450592" cy="2468880"/>
          </a:xfrm>
          <a:prstGeom prst="roundRect">
            <a:avLst>
              <a:gd name="adj" fmla="val 4478"/>
            </a:avLst>
          </a:prstGeom>
          <a:solidFill>
            <a:schemeClr val="bg2"/>
          </a:solidFill>
          <a:ln w="12700">
            <a:solidFill>
              <a:srgbClr val="DDD8CC"/>
            </a:solidFill>
            <a:prstDash val="solid"/>
          </a:ln>
        </p:spPr>
      </p:sp>
      <p:sp>
        <p:nvSpPr>
          <p:cNvPr id="13" name="Text 10"/>
          <p:cNvSpPr txBox="1"/>
          <p:nvPr/>
        </p:nvSpPr>
        <p:spPr>
          <a:xfrm>
            <a:off x="6409944" y="2057400"/>
            <a:ext cx="2011680" cy="365760"/>
          </a:xfrm>
          <a:prstGeom prst="rect">
            <a:avLst/>
          </a:prstGeom>
          <a:noFill/>
          <a:ln/>
        </p:spPr>
        <p:txBody>
          <a:bodyPr wrap="square" lIns="0" tIns="0" rIns="0" bIns="0" rtlCol="0" anchor="ctr"/>
          <a:lstStyle/>
          <a:p>
            <a:pPr marL="0" indent="0">
              <a:buNone/>
            </a:pPr>
            <a:r>
              <a:rPr lang="en-US" sz="1800" b="1" dirty="0">
                <a:solidFill>
                  <a:schemeClr val="accent3"/>
                </a:solidFill>
              </a:rPr>
              <a:t>Profit Margin</a:t>
            </a:r>
            <a:endParaRPr lang="en-US" sz="1800" dirty="0"/>
          </a:p>
        </p:txBody>
      </p:sp>
      <p:sp>
        <p:nvSpPr>
          <p:cNvPr id="14" name="Text 11"/>
          <p:cNvSpPr txBox="1"/>
          <p:nvPr/>
        </p:nvSpPr>
        <p:spPr>
          <a:xfrm>
            <a:off x="6409944" y="2560320"/>
            <a:ext cx="2221992" cy="822960"/>
          </a:xfrm>
          <a:prstGeom prst="rect">
            <a:avLst/>
          </a:prstGeom>
          <a:noFill/>
          <a:ln/>
        </p:spPr>
        <p:txBody>
          <a:bodyPr wrap="square" lIns="0" tIns="0" rIns="0" bIns="0" rtlCol="0" anchor="ctr"/>
          <a:lstStyle/>
          <a:p>
            <a:pPr marL="0" indent="0">
              <a:buNone/>
            </a:pPr>
            <a:r>
              <a:rPr lang="en-US" sz="4000" b="1" dirty="0" smtClean="0">
                <a:solidFill>
                  <a:schemeClr val="accent2"/>
                </a:solidFill>
                <a:latin typeface="+mj-lt" pitchFamily="34" charset="0"/>
                <a:ea typeface="+mj-lt" pitchFamily="34" charset="-122"/>
                <a:cs typeface="+mj-lt" pitchFamily="34" charset="-120"/>
              </a:rPr>
              <a:t>[44.17]%</a:t>
            </a:r>
            <a:endParaRPr lang="en-US" sz="4000" dirty="0"/>
          </a:p>
        </p:txBody>
      </p:sp>
      <p:sp>
        <p:nvSpPr>
          <p:cNvPr id="15" name="Text 12"/>
          <p:cNvSpPr txBox="1"/>
          <p:nvPr/>
        </p:nvSpPr>
        <p:spPr>
          <a:xfrm>
            <a:off x="6409944" y="3474720"/>
            <a:ext cx="2011680" cy="640080"/>
          </a:xfrm>
          <a:prstGeom prst="rect">
            <a:avLst/>
          </a:prstGeom>
          <a:noFill/>
          <a:ln/>
        </p:spPr>
        <p:txBody>
          <a:bodyPr wrap="square" lIns="0" tIns="0" rIns="0" bIns="0" rtlCol="0" anchor="t"/>
          <a:lstStyle/>
          <a:p>
            <a:pPr marL="0" indent="0">
              <a:buNone/>
            </a:pPr>
            <a:r>
              <a:rPr lang="en-US" sz="1400" dirty="0">
                <a:solidFill>
                  <a:schemeClr val="accent4"/>
                </a:solidFill>
              </a:rPr>
              <a:t>Total profit as a share of total sales</a:t>
            </a:r>
            <a:endParaRPr lang="en-US" sz="1400" dirty="0"/>
          </a:p>
        </p:txBody>
      </p:sp>
      <p:sp>
        <p:nvSpPr>
          <p:cNvPr id="16" name="KPI card 4"/>
          <p:cNvSpPr/>
          <p:nvPr/>
        </p:nvSpPr>
        <p:spPr>
          <a:xfrm>
            <a:off x="8860536" y="1828800"/>
            <a:ext cx="2450592" cy="2468880"/>
          </a:xfrm>
          <a:prstGeom prst="roundRect">
            <a:avLst>
              <a:gd name="adj" fmla="val 4478"/>
            </a:avLst>
          </a:prstGeom>
          <a:solidFill>
            <a:schemeClr val="bg2"/>
          </a:solidFill>
          <a:ln w="12700">
            <a:solidFill>
              <a:srgbClr val="DDD8CC"/>
            </a:solidFill>
            <a:prstDash val="solid"/>
          </a:ln>
        </p:spPr>
      </p:sp>
      <p:sp>
        <p:nvSpPr>
          <p:cNvPr id="17" name="Text 14"/>
          <p:cNvSpPr txBox="1"/>
          <p:nvPr/>
        </p:nvSpPr>
        <p:spPr>
          <a:xfrm>
            <a:off x="9089136" y="2057400"/>
            <a:ext cx="2011680" cy="365760"/>
          </a:xfrm>
          <a:prstGeom prst="rect">
            <a:avLst/>
          </a:prstGeom>
          <a:noFill/>
          <a:ln/>
        </p:spPr>
        <p:txBody>
          <a:bodyPr wrap="square" lIns="0" tIns="0" rIns="0" bIns="0" rtlCol="0" anchor="ctr"/>
          <a:lstStyle/>
          <a:p>
            <a:pPr marL="0" indent="0">
              <a:buNone/>
            </a:pPr>
            <a:r>
              <a:rPr lang="en-US" sz="1800" b="1" dirty="0">
                <a:solidFill>
                  <a:schemeClr val="accent3"/>
                </a:solidFill>
              </a:rPr>
              <a:t>Total Orders</a:t>
            </a:r>
            <a:endParaRPr lang="en-US" sz="1800" dirty="0"/>
          </a:p>
        </p:txBody>
      </p:sp>
      <p:sp>
        <p:nvSpPr>
          <p:cNvPr id="18" name="Text 15"/>
          <p:cNvSpPr txBox="1"/>
          <p:nvPr/>
        </p:nvSpPr>
        <p:spPr>
          <a:xfrm>
            <a:off x="9089136" y="2560320"/>
            <a:ext cx="2011680" cy="822960"/>
          </a:xfrm>
          <a:prstGeom prst="rect">
            <a:avLst/>
          </a:prstGeom>
          <a:noFill/>
          <a:ln/>
        </p:spPr>
        <p:txBody>
          <a:bodyPr wrap="square" lIns="0" tIns="0" rIns="0" bIns="0" rtlCol="0" anchor="ctr"/>
          <a:lstStyle/>
          <a:p>
            <a:pPr marL="0" indent="0">
              <a:buNone/>
            </a:pPr>
            <a:r>
              <a:rPr lang="en-US" sz="4000" b="1" dirty="0" smtClean="0">
                <a:solidFill>
                  <a:schemeClr val="accent2"/>
                </a:solidFill>
                <a:latin typeface="+mj-lt" pitchFamily="34" charset="0"/>
                <a:ea typeface="+mj-lt" pitchFamily="34" charset="-122"/>
                <a:cs typeface="+mj-lt" pitchFamily="34" charset="-120"/>
              </a:rPr>
              <a:t>[1.8k]</a:t>
            </a:r>
            <a:endParaRPr lang="en-US" sz="4000" dirty="0"/>
          </a:p>
        </p:txBody>
      </p:sp>
      <p:sp>
        <p:nvSpPr>
          <p:cNvPr id="19" name="Text 16"/>
          <p:cNvSpPr txBox="1"/>
          <p:nvPr/>
        </p:nvSpPr>
        <p:spPr>
          <a:xfrm>
            <a:off x="9089136" y="3474720"/>
            <a:ext cx="2011680" cy="640080"/>
          </a:xfrm>
          <a:prstGeom prst="rect">
            <a:avLst/>
          </a:prstGeom>
          <a:noFill/>
          <a:ln/>
        </p:spPr>
        <p:txBody>
          <a:bodyPr wrap="square" lIns="0" tIns="0" rIns="0" bIns="0" rtlCol="0" anchor="t"/>
          <a:lstStyle/>
          <a:p>
            <a:pPr marL="0" indent="0">
              <a:buNone/>
            </a:pPr>
            <a:r>
              <a:rPr lang="en-US" sz="1400" dirty="0">
                <a:solidFill>
                  <a:schemeClr val="accent4"/>
                </a:solidFill>
              </a:rPr>
              <a:t>Number of orders placed</a:t>
            </a:r>
            <a:endParaRPr lang="en-US" sz="1400" dirty="0"/>
          </a:p>
        </p:txBody>
      </p:sp>
      <p:sp>
        <p:nvSpPr>
          <p:cNvPr id="20" name="Takeaway box"/>
          <p:cNvSpPr/>
          <p:nvPr/>
        </p:nvSpPr>
        <p:spPr>
          <a:xfrm>
            <a:off x="822960" y="4572000"/>
            <a:ext cx="10488168" cy="1463040"/>
          </a:xfrm>
          <a:prstGeom prst="roundRect">
            <a:avLst>
              <a:gd name="adj" fmla="val 7500"/>
            </a:avLst>
          </a:prstGeom>
          <a:solidFill>
            <a:schemeClr val="tx2"/>
          </a:solidFill>
          <a:ln w="12700">
            <a:solidFill>
              <a:schemeClr val="tx2"/>
            </a:solidFill>
            <a:prstDash val="solid"/>
          </a:ln>
        </p:spPr>
      </p:sp>
      <p:sp>
        <p:nvSpPr>
          <p:cNvPr id="21" name="Text 18"/>
          <p:cNvSpPr txBox="1"/>
          <p:nvPr/>
        </p:nvSpPr>
        <p:spPr>
          <a:xfrm>
            <a:off x="1143000" y="4754880"/>
            <a:ext cx="4572000" cy="365760"/>
          </a:xfrm>
          <a:prstGeom prst="rect">
            <a:avLst/>
          </a:prstGeom>
          <a:noFill/>
          <a:ln/>
        </p:spPr>
        <p:txBody>
          <a:bodyPr wrap="square" lIns="0" tIns="0" rIns="0" bIns="0" rtlCol="0" anchor="ctr"/>
          <a:lstStyle/>
          <a:p>
            <a:pPr marL="0" indent="0">
              <a:buNone/>
            </a:pPr>
            <a:r>
              <a:rPr lang="en-US" sz="1600" b="1" dirty="0">
                <a:solidFill>
                  <a:schemeClr val="accent1"/>
                </a:solidFill>
              </a:rPr>
              <a:t>Key takeaway</a:t>
            </a:r>
            <a:endParaRPr lang="en-US" sz="1600" dirty="0"/>
          </a:p>
        </p:txBody>
      </p:sp>
      <p:sp>
        <p:nvSpPr>
          <p:cNvPr id="22" name="Text 19"/>
          <p:cNvSpPr txBox="1"/>
          <p:nvPr/>
        </p:nvSpPr>
        <p:spPr>
          <a:xfrm>
            <a:off x="1143000" y="5166360"/>
            <a:ext cx="9875520" cy="731520"/>
          </a:xfrm>
          <a:prstGeom prst="rect">
            <a:avLst/>
          </a:prstGeom>
          <a:noFill/>
          <a:ln/>
        </p:spPr>
        <p:txBody>
          <a:bodyPr wrap="square" lIns="0" tIns="0" rIns="0" bIns="0" rtlCol="0" anchor="t"/>
          <a:lstStyle/>
          <a:p>
            <a:pPr marL="0" indent="0">
              <a:buNone/>
            </a:pPr>
            <a:r>
              <a:rPr lang="en-US" sz="1800" dirty="0">
                <a:solidFill>
                  <a:schemeClr val="bg1"/>
                </a:solidFill>
              </a:rPr>
              <a:t>[Summarise what the four KPIs show together, for example whether strong sales are also turning into healthy profit.]</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66070"/>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548640"/>
            <a:ext cx="10515600" cy="914400"/>
          </a:xfrm>
          <a:prstGeom prst="rect">
            <a:avLst/>
          </a:prstGeom>
          <a:noFill/>
          <a:ln/>
        </p:spPr>
        <p:txBody>
          <a:bodyPr wrap="square" lIns="0" tIns="0" rIns="0" bIns="0" rtlCol="0" anchor="ctr"/>
          <a:lstStyle/>
          <a:p>
            <a:pPr marL="0" indent="0" algn="l">
              <a:buNone/>
            </a:pPr>
            <a:r>
              <a:rPr lang="en-US" sz="4000" b="1" dirty="0">
                <a:solidFill>
                  <a:schemeClr val="tx1"/>
                </a:solidFill>
                <a:latin typeface="+mj-lt" pitchFamily="34" charset="0"/>
                <a:ea typeface="+mj-lt" pitchFamily="34" charset="-122"/>
                <a:cs typeface="+mj-lt" pitchFamily="34" charset="-120"/>
              </a:rPr>
              <a:t>Total Sales</a:t>
            </a:r>
            <a:endParaRPr lang="en-US" sz="4000" dirty="0"/>
          </a:p>
        </p:txBody>
      </p:sp>
      <p:sp>
        <p:nvSpPr>
          <p:cNvPr id="4" name="Screenshot placeholder"/>
          <p:cNvSpPr/>
          <p:nvPr/>
        </p:nvSpPr>
        <p:spPr>
          <a:xfrm>
            <a:off x="822960" y="1737360"/>
            <a:ext cx="6583680" cy="4206240"/>
          </a:xfrm>
          <a:prstGeom prst="rect">
            <a:avLst/>
          </a:prstGeom>
          <a:solidFill>
            <a:schemeClr val="bg2"/>
          </a:solidFill>
          <a:ln w="19050">
            <a:solidFill>
              <a:srgbClr val="B8C0D0"/>
            </a:solidFill>
            <a:prstDash val="dash"/>
          </a:ln>
        </p:spPr>
      </p:sp>
      <p:sp>
        <p:nvSpPr>
          <p:cNvPr id="5" name="Text 2"/>
          <p:cNvSpPr txBox="1"/>
          <p:nvPr/>
        </p:nvSpPr>
        <p:spPr>
          <a:xfrm>
            <a:off x="1097280" y="1737360"/>
            <a:ext cx="6035040" cy="4206240"/>
          </a:xfrm>
          <a:prstGeom prst="rect">
            <a:avLst/>
          </a:prstGeom>
          <a:noFill/>
          <a:ln/>
        </p:spPr>
        <p:txBody>
          <a:bodyPr wrap="square" lIns="0" tIns="0" rIns="0" bIns="0" rtlCol="0" anchor="ctr"/>
          <a:lstStyle/>
          <a:p>
            <a:pPr marL="0" indent="0" algn="ctr">
              <a:buNone/>
            </a:pPr>
            <a:r>
              <a:rPr lang="en-US" sz="1600" dirty="0">
                <a:solidFill>
                  <a:schemeClr val="accent4"/>
                </a:solidFill>
              </a:rPr>
              <a:t>Paste dashboard screenshot here</a:t>
            </a:r>
            <a:endParaRPr lang="en-US" sz="1600" dirty="0"/>
          </a:p>
          <a:p>
            <a:pPr marL="0" indent="0" algn="ctr">
              <a:buNone/>
            </a:pPr>
            <a:r>
              <a:rPr lang="en-US" sz="1600" dirty="0">
                <a:solidFill>
                  <a:schemeClr val="accent4"/>
                </a:solidFill>
              </a:rPr>
              <a:t>Total Sales card and Sales vs Profit trend (line chart)</a:t>
            </a:r>
            <a:endParaRPr lang="en-US" sz="1600" dirty="0"/>
          </a:p>
        </p:txBody>
      </p:sp>
      <p:sp>
        <p:nvSpPr>
          <p:cNvPr id="6" name="Insight panel"/>
          <p:cNvSpPr/>
          <p:nvPr/>
        </p:nvSpPr>
        <p:spPr>
          <a:xfrm>
            <a:off x="7680960" y="1737360"/>
            <a:ext cx="3657600" cy="4206240"/>
          </a:xfrm>
          <a:prstGeom prst="roundRect">
            <a:avLst>
              <a:gd name="adj" fmla="val 3000"/>
            </a:avLst>
          </a:prstGeom>
          <a:solidFill>
            <a:schemeClr val="bg2"/>
          </a:solidFill>
          <a:ln w="12700">
            <a:solidFill>
              <a:srgbClr val="DDD8CC"/>
            </a:solidFill>
            <a:prstDash val="solid"/>
          </a:ln>
        </p:spPr>
      </p:sp>
      <p:sp>
        <p:nvSpPr>
          <p:cNvPr id="7" name="Text 4"/>
          <p:cNvSpPr txBox="1"/>
          <p:nvPr/>
        </p:nvSpPr>
        <p:spPr>
          <a:xfrm>
            <a:off x="7955280" y="1920240"/>
            <a:ext cx="3108960" cy="365760"/>
          </a:xfrm>
          <a:prstGeom prst="rect">
            <a:avLst/>
          </a:prstGeom>
          <a:noFill/>
          <a:ln/>
        </p:spPr>
        <p:txBody>
          <a:bodyPr wrap="square" lIns="0" tIns="0" rIns="0" bIns="0" rtlCol="0" anchor="ctr"/>
          <a:lstStyle/>
          <a:p>
            <a:pPr marL="0" indent="0">
              <a:buNone/>
            </a:pPr>
            <a:r>
              <a:rPr lang="en-US" sz="1600" b="1" dirty="0">
                <a:solidFill>
                  <a:schemeClr val="accent3"/>
                </a:solidFill>
              </a:rPr>
              <a:t>What it shows</a:t>
            </a:r>
            <a:endParaRPr lang="en-US" sz="1600" dirty="0"/>
          </a:p>
        </p:txBody>
      </p:sp>
      <p:sp>
        <p:nvSpPr>
          <p:cNvPr id="8" name="Text 5"/>
          <p:cNvSpPr txBox="1"/>
          <p:nvPr/>
        </p:nvSpPr>
        <p:spPr>
          <a:xfrm>
            <a:off x="7955280" y="2331720"/>
            <a:ext cx="3108960" cy="1371600"/>
          </a:xfrm>
          <a:prstGeom prst="rect">
            <a:avLst/>
          </a:prstGeom>
          <a:noFill/>
          <a:ln/>
        </p:spPr>
        <p:txBody>
          <a:bodyPr wrap="square" lIns="0" tIns="0" rIns="0" bIns="0" rtlCol="0" anchor="t"/>
          <a:lstStyle/>
          <a:p>
            <a:pPr marL="0" indent="0">
              <a:buNone/>
            </a:pPr>
            <a:r>
              <a:rPr lang="en-US" sz="1400" dirty="0">
                <a:solidFill>
                  <a:schemeClr val="tx1"/>
                </a:solidFill>
              </a:rPr>
              <a:t>Total sales and total profit plotted together over time, so growth and seasonality are easy to compare.</a:t>
            </a:r>
            <a:endParaRPr lang="en-US" sz="1400" dirty="0"/>
          </a:p>
        </p:txBody>
      </p:sp>
      <p:sp>
        <p:nvSpPr>
          <p:cNvPr id="9" name="Text 6"/>
          <p:cNvSpPr txBox="1"/>
          <p:nvPr/>
        </p:nvSpPr>
        <p:spPr>
          <a:xfrm>
            <a:off x="7955280" y="3794760"/>
            <a:ext cx="3108960" cy="365760"/>
          </a:xfrm>
          <a:prstGeom prst="rect">
            <a:avLst/>
          </a:prstGeom>
          <a:noFill/>
          <a:ln/>
        </p:spPr>
        <p:txBody>
          <a:bodyPr wrap="square" lIns="0" tIns="0" rIns="0" bIns="0" rtlCol="0" anchor="ctr"/>
          <a:lstStyle/>
          <a:p>
            <a:pPr marL="0" indent="0">
              <a:buNone/>
            </a:pPr>
            <a:r>
              <a:rPr lang="en-US" sz="1600" b="1" dirty="0">
                <a:solidFill>
                  <a:schemeClr val="accent3"/>
                </a:solidFill>
              </a:rPr>
              <a:t>Insights</a:t>
            </a:r>
            <a:endParaRPr lang="en-US" sz="1600" dirty="0"/>
          </a:p>
        </p:txBody>
      </p:sp>
      <p:sp>
        <p:nvSpPr>
          <p:cNvPr id="10" name="Text 7"/>
          <p:cNvSpPr txBox="1"/>
          <p:nvPr/>
        </p:nvSpPr>
        <p:spPr>
          <a:xfrm>
            <a:off x="7955280" y="4206240"/>
            <a:ext cx="31089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[Peak period and growth trend]</a:t>
            </a:r>
            <a:endParaRPr lang="en-US" sz="1400" dirty="0"/>
          </a:p>
          <a:p>
            <a:pPr marL="342900" indent="-342900">
              <a:spcAft>
                <a:spcPts val="600"/>
              </a:spcAft>
              <a:buSzPct val="100000"/>
              <a:buChar char="•"/>
            </a:pPr>
            <a:r>
              <a:rPr lang="en-US" sz="1400" dirty="0">
                <a:solidFill>
                  <a:schemeClr val="tx1"/>
                </a:solidFill>
              </a:rPr>
              <a:t>[How profit moves with sales]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66070"/>
                </a:solidFill>
              </a:defRPr>
            </a:lvl1pPr>
          </a:lstStyle>
          <a:p>
            <a:pPr algn="l"/>
            <a:fld id="{F7021451-1387-4CA6-816F-3879F97B5CBC}" type="slidenum">
              <a:rPr lang="en-US" b="0"/>
              <a:t>8</a:t>
            </a:fld>
            <a:endParaRPr lang="en-US"/>
          </a:p>
        </p:txBody>
      </p:sp>
      <p:pic>
        <p:nvPicPr>
          <p:cNvPr id="13" name="Picture 12"/>
          <p:cNvPicPr>
            <a:picLocks noChangeAspect="1"/>
          </p:cNvPicPr>
          <p:nvPr/>
        </p:nvPicPr>
        <p:blipFill rotWithShape="1">
          <a:blip r:embed="rId3"/>
          <a:srcRect l="31612" t="37762" r="46620" b="35759"/>
          <a:stretch/>
        </p:blipFill>
        <p:spPr>
          <a:xfrm>
            <a:off x="822960" y="1737360"/>
            <a:ext cx="6583680" cy="42062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548640"/>
            <a:ext cx="10515600" cy="914400"/>
          </a:xfrm>
          <a:prstGeom prst="rect">
            <a:avLst/>
          </a:prstGeom>
          <a:noFill/>
          <a:ln/>
        </p:spPr>
        <p:txBody>
          <a:bodyPr wrap="square" lIns="0" tIns="0" rIns="0" bIns="0" rtlCol="0" anchor="ctr"/>
          <a:lstStyle/>
          <a:p>
            <a:pPr marL="0" indent="0" algn="l">
              <a:buNone/>
            </a:pPr>
            <a:r>
              <a:rPr lang="en-US" sz="4000" b="1" dirty="0">
                <a:solidFill>
                  <a:schemeClr val="tx1"/>
                </a:solidFill>
                <a:latin typeface="+mj-lt" pitchFamily="34" charset="0"/>
                <a:ea typeface="+mj-lt" pitchFamily="34" charset="-122"/>
                <a:cs typeface="+mj-lt" pitchFamily="34" charset="-120"/>
              </a:rPr>
              <a:t>Total Profit and Profit Margin</a:t>
            </a:r>
            <a:endParaRPr lang="en-US" sz="4000" dirty="0"/>
          </a:p>
        </p:txBody>
      </p:sp>
      <p:sp>
        <p:nvSpPr>
          <p:cNvPr id="4" name="Screenshot placeholder"/>
          <p:cNvSpPr/>
          <p:nvPr/>
        </p:nvSpPr>
        <p:spPr>
          <a:xfrm>
            <a:off x="822960" y="1737360"/>
            <a:ext cx="6583680" cy="4206240"/>
          </a:xfrm>
          <a:prstGeom prst="rect">
            <a:avLst/>
          </a:prstGeom>
          <a:solidFill>
            <a:schemeClr val="bg2"/>
          </a:solidFill>
          <a:ln w="19050">
            <a:solidFill>
              <a:srgbClr val="B8C0D0"/>
            </a:solidFill>
            <a:prstDash val="dash"/>
          </a:ln>
        </p:spPr>
      </p:sp>
      <p:sp>
        <p:nvSpPr>
          <p:cNvPr id="5" name="Text 2"/>
          <p:cNvSpPr txBox="1"/>
          <p:nvPr/>
        </p:nvSpPr>
        <p:spPr>
          <a:xfrm>
            <a:off x="1097280" y="1737360"/>
            <a:ext cx="6035040" cy="4206240"/>
          </a:xfrm>
          <a:prstGeom prst="rect">
            <a:avLst/>
          </a:prstGeom>
          <a:noFill/>
          <a:ln/>
        </p:spPr>
        <p:txBody>
          <a:bodyPr wrap="square" lIns="0" tIns="0" rIns="0" bIns="0" rtlCol="0" anchor="ctr"/>
          <a:lstStyle/>
          <a:p>
            <a:pPr marL="0" indent="0" algn="ctr">
              <a:buNone/>
            </a:pPr>
            <a:r>
              <a:rPr lang="en-US" sz="1600" dirty="0">
                <a:solidFill>
                  <a:schemeClr val="accent4"/>
                </a:solidFill>
              </a:rPr>
              <a:t>Paste dashboard screenshot here</a:t>
            </a:r>
            <a:endParaRPr lang="en-US" sz="1600" dirty="0"/>
          </a:p>
          <a:p>
            <a:pPr marL="0" indent="0" algn="ctr">
              <a:buNone/>
            </a:pPr>
            <a:r>
              <a:rPr lang="en-US" sz="1600" dirty="0">
                <a:solidFill>
                  <a:schemeClr val="accent4"/>
                </a:solidFill>
              </a:rPr>
              <a:t>Total Profit and Profit Margin % cards</a:t>
            </a:r>
            <a:endParaRPr lang="en-US" sz="1600" dirty="0"/>
          </a:p>
        </p:txBody>
      </p:sp>
      <p:sp>
        <p:nvSpPr>
          <p:cNvPr id="6" name="Insight panel"/>
          <p:cNvSpPr/>
          <p:nvPr/>
        </p:nvSpPr>
        <p:spPr>
          <a:xfrm>
            <a:off x="7680960" y="1737360"/>
            <a:ext cx="3657600" cy="4206240"/>
          </a:xfrm>
          <a:prstGeom prst="roundRect">
            <a:avLst>
              <a:gd name="adj" fmla="val 3000"/>
            </a:avLst>
          </a:prstGeom>
          <a:solidFill>
            <a:schemeClr val="bg2"/>
          </a:solidFill>
          <a:ln w="12700">
            <a:solidFill>
              <a:srgbClr val="DDD8CC"/>
            </a:solidFill>
            <a:prstDash val="solid"/>
          </a:ln>
        </p:spPr>
      </p:sp>
      <p:sp>
        <p:nvSpPr>
          <p:cNvPr id="7" name="Text 4"/>
          <p:cNvSpPr txBox="1"/>
          <p:nvPr/>
        </p:nvSpPr>
        <p:spPr>
          <a:xfrm>
            <a:off x="7955280" y="1920240"/>
            <a:ext cx="3108960" cy="365760"/>
          </a:xfrm>
          <a:prstGeom prst="rect">
            <a:avLst/>
          </a:prstGeom>
          <a:noFill/>
          <a:ln/>
        </p:spPr>
        <p:txBody>
          <a:bodyPr wrap="square" lIns="0" tIns="0" rIns="0" bIns="0" rtlCol="0" anchor="ctr"/>
          <a:lstStyle/>
          <a:p>
            <a:pPr marL="0" indent="0">
              <a:buNone/>
            </a:pPr>
            <a:r>
              <a:rPr lang="en-US" sz="1600" b="1" dirty="0">
                <a:solidFill>
                  <a:schemeClr val="accent3"/>
                </a:solidFill>
              </a:rPr>
              <a:t>What it shows</a:t>
            </a:r>
            <a:endParaRPr lang="en-US" sz="1600" dirty="0"/>
          </a:p>
        </p:txBody>
      </p:sp>
      <p:sp>
        <p:nvSpPr>
          <p:cNvPr id="8" name="Text 5"/>
          <p:cNvSpPr txBox="1"/>
          <p:nvPr/>
        </p:nvSpPr>
        <p:spPr>
          <a:xfrm>
            <a:off x="7955280" y="2331720"/>
            <a:ext cx="3108960" cy="1371600"/>
          </a:xfrm>
          <a:prstGeom prst="rect">
            <a:avLst/>
          </a:prstGeom>
          <a:noFill/>
          <a:ln/>
        </p:spPr>
        <p:txBody>
          <a:bodyPr wrap="square" lIns="0" tIns="0" rIns="0" bIns="0" rtlCol="0" anchor="t"/>
          <a:lstStyle/>
          <a:p>
            <a:pPr marL="0" indent="0">
              <a:buNone/>
            </a:pPr>
            <a:r>
              <a:rPr lang="en-US" sz="1400" dirty="0">
                <a:solidFill>
                  <a:schemeClr val="tx1"/>
                </a:solidFill>
              </a:rPr>
              <a:t>Profit after costs, and the share of each sale the business keeps as profit.</a:t>
            </a:r>
            <a:endParaRPr lang="en-US" sz="1400" dirty="0"/>
          </a:p>
        </p:txBody>
      </p:sp>
      <p:sp>
        <p:nvSpPr>
          <p:cNvPr id="9" name="Text 6"/>
          <p:cNvSpPr txBox="1"/>
          <p:nvPr/>
        </p:nvSpPr>
        <p:spPr>
          <a:xfrm>
            <a:off x="7955280" y="3794760"/>
            <a:ext cx="3108960" cy="365760"/>
          </a:xfrm>
          <a:prstGeom prst="rect">
            <a:avLst/>
          </a:prstGeom>
          <a:noFill/>
          <a:ln/>
        </p:spPr>
        <p:txBody>
          <a:bodyPr wrap="square" lIns="0" tIns="0" rIns="0" bIns="0" rtlCol="0" anchor="ctr"/>
          <a:lstStyle/>
          <a:p>
            <a:pPr marL="0" indent="0">
              <a:buNone/>
            </a:pPr>
            <a:r>
              <a:rPr lang="en-US" sz="1600" b="1" dirty="0">
                <a:solidFill>
                  <a:schemeClr val="accent3"/>
                </a:solidFill>
              </a:rPr>
              <a:t>Insights</a:t>
            </a:r>
            <a:endParaRPr lang="en-US" sz="1600" dirty="0"/>
          </a:p>
        </p:txBody>
      </p:sp>
      <p:sp>
        <p:nvSpPr>
          <p:cNvPr id="10" name="Text 7"/>
          <p:cNvSpPr txBox="1"/>
          <p:nvPr/>
        </p:nvSpPr>
        <p:spPr>
          <a:xfrm>
            <a:off x="7955280" y="4206240"/>
            <a:ext cx="31089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[Margin level and what drives it]</a:t>
            </a:r>
            <a:endParaRPr lang="en-US" sz="1400" dirty="0"/>
          </a:p>
          <a:p>
            <a:pPr marL="342900" indent="-342900">
              <a:spcAft>
                <a:spcPts val="600"/>
              </a:spcAft>
              <a:buSzPct val="100000"/>
              <a:buChar char="•"/>
            </a:pPr>
            <a:r>
              <a:rPr lang="en-US" sz="1400" dirty="0">
                <a:solidFill>
                  <a:schemeClr val="tx1"/>
                </a:solidFill>
              </a:rPr>
              <a:t>[Where margin is weakest]</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66070"/>
                </a:solidFill>
              </a:defRPr>
            </a:lvl1pPr>
          </a:lstStyle>
          <a:p>
            <a:pPr algn="l"/>
            <a:fld id="{F7021451-1387-4CA6-816F-3879F97B5CBC}" type="slidenum">
              <a:rPr lang="en-US" b="0"/>
              <a:t>9</a:t>
            </a:fld>
            <a:endParaRPr lang="en-US"/>
          </a:p>
        </p:txBody>
      </p:sp>
      <p:pic>
        <p:nvPicPr>
          <p:cNvPr id="3" name="Picture 2"/>
          <p:cNvPicPr>
            <a:picLocks noChangeAspect="1"/>
          </p:cNvPicPr>
          <p:nvPr/>
        </p:nvPicPr>
        <p:blipFill rotWithShape="1">
          <a:blip r:embed="rId3"/>
          <a:srcRect l="31612" t="37762" r="46620" b="35759"/>
          <a:stretch/>
        </p:blipFill>
        <p:spPr>
          <a:xfrm>
            <a:off x="7406640" y="6355080"/>
            <a:ext cx="3185160" cy="2179320"/>
          </a:xfrm>
          <a:prstGeom prst="rect">
            <a:avLst/>
          </a:prstGeom>
        </p:spPr>
      </p:pic>
      <p:pic>
        <p:nvPicPr>
          <p:cNvPr id="12" name="Picture 11"/>
          <p:cNvPicPr>
            <a:picLocks noChangeAspect="1"/>
          </p:cNvPicPr>
          <p:nvPr/>
        </p:nvPicPr>
        <p:blipFill rotWithShape="1">
          <a:blip r:embed="rId3"/>
          <a:srcRect l="11149" t="38149" r="68540" b="36298"/>
          <a:stretch/>
        </p:blipFill>
        <p:spPr>
          <a:xfrm>
            <a:off x="822960" y="1737360"/>
            <a:ext cx="6736080" cy="4358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548640"/>
            <a:ext cx="10515600" cy="914400"/>
          </a:xfrm>
          <a:prstGeom prst="rect">
            <a:avLst/>
          </a:prstGeom>
          <a:noFill/>
          <a:ln/>
        </p:spPr>
        <p:txBody>
          <a:bodyPr wrap="square" lIns="0" tIns="0" rIns="0" bIns="0" rtlCol="0" anchor="ctr"/>
          <a:lstStyle/>
          <a:p>
            <a:pPr marL="0" indent="0" algn="l">
              <a:buNone/>
            </a:pPr>
            <a:r>
              <a:rPr lang="en-US" sz="4000" b="1" dirty="0">
                <a:solidFill>
                  <a:schemeClr val="tx1"/>
                </a:solidFill>
                <a:latin typeface="+mj-lt" pitchFamily="34" charset="0"/>
                <a:ea typeface="+mj-lt" pitchFamily="34" charset="-122"/>
                <a:cs typeface="+mj-lt" pitchFamily="34" charset="-120"/>
              </a:rPr>
              <a:t>Total Orders</a:t>
            </a:r>
            <a:endParaRPr lang="en-US" sz="4000" dirty="0"/>
          </a:p>
        </p:txBody>
      </p:sp>
      <p:sp>
        <p:nvSpPr>
          <p:cNvPr id="4" name="Screenshot placeholder"/>
          <p:cNvSpPr/>
          <p:nvPr/>
        </p:nvSpPr>
        <p:spPr>
          <a:xfrm>
            <a:off x="822960" y="1737360"/>
            <a:ext cx="6583680" cy="4206240"/>
          </a:xfrm>
          <a:prstGeom prst="rect">
            <a:avLst/>
          </a:prstGeom>
          <a:solidFill>
            <a:schemeClr val="bg2"/>
          </a:solidFill>
          <a:ln w="19050">
            <a:solidFill>
              <a:srgbClr val="B8C0D0"/>
            </a:solidFill>
            <a:prstDash val="dash"/>
          </a:ln>
        </p:spPr>
      </p:sp>
      <p:sp>
        <p:nvSpPr>
          <p:cNvPr id="5" name="Text 2"/>
          <p:cNvSpPr txBox="1"/>
          <p:nvPr/>
        </p:nvSpPr>
        <p:spPr>
          <a:xfrm>
            <a:off x="1097280" y="2084601"/>
            <a:ext cx="6035040" cy="4206240"/>
          </a:xfrm>
          <a:prstGeom prst="rect">
            <a:avLst/>
          </a:prstGeom>
          <a:noFill/>
          <a:ln/>
        </p:spPr>
        <p:txBody>
          <a:bodyPr wrap="square" lIns="0" tIns="0" rIns="0" bIns="0" rtlCol="0" anchor="ctr"/>
          <a:lstStyle/>
          <a:p>
            <a:pPr marL="0" indent="0" algn="ctr">
              <a:buNone/>
            </a:pPr>
            <a:r>
              <a:rPr lang="en-US" sz="1600" dirty="0">
                <a:solidFill>
                  <a:schemeClr val="accent4"/>
                </a:solidFill>
              </a:rPr>
              <a:t>Paste dashboard screenshot here</a:t>
            </a:r>
            <a:endParaRPr lang="en-US" sz="1600" dirty="0"/>
          </a:p>
          <a:p>
            <a:pPr marL="0" indent="0" algn="ctr">
              <a:buNone/>
            </a:pPr>
            <a:r>
              <a:rPr lang="en-US" sz="1600" dirty="0">
                <a:solidFill>
                  <a:schemeClr val="accent4"/>
                </a:solidFill>
              </a:rPr>
              <a:t>Total Orders, Average Order Value and Orders by status / payment method</a:t>
            </a:r>
            <a:endParaRPr lang="en-US" sz="1600" dirty="0"/>
          </a:p>
        </p:txBody>
      </p:sp>
      <p:sp>
        <p:nvSpPr>
          <p:cNvPr id="6" name="Insight panel"/>
          <p:cNvSpPr/>
          <p:nvPr/>
        </p:nvSpPr>
        <p:spPr>
          <a:xfrm>
            <a:off x="7680960" y="1737360"/>
            <a:ext cx="3657600" cy="4206240"/>
          </a:xfrm>
          <a:prstGeom prst="roundRect">
            <a:avLst>
              <a:gd name="adj" fmla="val 3000"/>
            </a:avLst>
          </a:prstGeom>
          <a:solidFill>
            <a:schemeClr val="bg2"/>
          </a:solidFill>
          <a:ln w="12700">
            <a:solidFill>
              <a:srgbClr val="DDD8CC"/>
            </a:solidFill>
            <a:prstDash val="solid"/>
          </a:ln>
        </p:spPr>
      </p:sp>
      <p:sp>
        <p:nvSpPr>
          <p:cNvPr id="7" name="Text 4"/>
          <p:cNvSpPr txBox="1"/>
          <p:nvPr/>
        </p:nvSpPr>
        <p:spPr>
          <a:xfrm>
            <a:off x="7955280" y="1920240"/>
            <a:ext cx="3108960" cy="365760"/>
          </a:xfrm>
          <a:prstGeom prst="rect">
            <a:avLst/>
          </a:prstGeom>
          <a:noFill/>
          <a:ln/>
        </p:spPr>
        <p:txBody>
          <a:bodyPr wrap="square" lIns="0" tIns="0" rIns="0" bIns="0" rtlCol="0" anchor="ctr"/>
          <a:lstStyle/>
          <a:p>
            <a:pPr marL="0" indent="0">
              <a:buNone/>
            </a:pPr>
            <a:r>
              <a:rPr lang="en-US" sz="1600" b="1" dirty="0">
                <a:solidFill>
                  <a:schemeClr val="accent3"/>
                </a:solidFill>
              </a:rPr>
              <a:t>What it shows</a:t>
            </a:r>
            <a:endParaRPr lang="en-US" sz="1600" dirty="0"/>
          </a:p>
        </p:txBody>
      </p:sp>
      <p:sp>
        <p:nvSpPr>
          <p:cNvPr id="8" name="Text 5"/>
          <p:cNvSpPr txBox="1"/>
          <p:nvPr/>
        </p:nvSpPr>
        <p:spPr>
          <a:xfrm>
            <a:off x="7955280" y="2331720"/>
            <a:ext cx="3108960" cy="1371600"/>
          </a:xfrm>
          <a:prstGeom prst="rect">
            <a:avLst/>
          </a:prstGeom>
          <a:noFill/>
          <a:ln/>
        </p:spPr>
        <p:txBody>
          <a:bodyPr wrap="square" lIns="0" tIns="0" rIns="0" bIns="0" rtlCol="0" anchor="t"/>
          <a:lstStyle/>
          <a:p>
            <a:pPr marL="0" indent="0">
              <a:buNone/>
            </a:pPr>
            <a:r>
              <a:rPr lang="en-US" sz="1400" dirty="0">
                <a:solidFill>
                  <a:schemeClr val="tx1"/>
                </a:solidFill>
              </a:rPr>
              <a:t>How many orders were placed, the average order value, and how orders split by status and payment method.</a:t>
            </a:r>
            <a:endParaRPr lang="en-US" sz="1400" dirty="0"/>
          </a:p>
        </p:txBody>
      </p:sp>
      <p:sp>
        <p:nvSpPr>
          <p:cNvPr id="9" name="Text 6"/>
          <p:cNvSpPr txBox="1"/>
          <p:nvPr/>
        </p:nvSpPr>
        <p:spPr>
          <a:xfrm>
            <a:off x="7955280" y="3794760"/>
            <a:ext cx="3108960" cy="365760"/>
          </a:xfrm>
          <a:prstGeom prst="rect">
            <a:avLst/>
          </a:prstGeom>
          <a:noFill/>
          <a:ln/>
        </p:spPr>
        <p:txBody>
          <a:bodyPr wrap="square" lIns="0" tIns="0" rIns="0" bIns="0" rtlCol="0" anchor="ctr"/>
          <a:lstStyle/>
          <a:p>
            <a:pPr marL="0" indent="0">
              <a:buNone/>
            </a:pPr>
            <a:r>
              <a:rPr lang="en-US" sz="1600" b="1" dirty="0">
                <a:solidFill>
                  <a:schemeClr val="accent3"/>
                </a:solidFill>
              </a:rPr>
              <a:t>Insights</a:t>
            </a:r>
            <a:endParaRPr lang="en-US" sz="1600" dirty="0"/>
          </a:p>
        </p:txBody>
      </p:sp>
      <p:sp>
        <p:nvSpPr>
          <p:cNvPr id="10" name="Text 7"/>
          <p:cNvSpPr txBox="1"/>
          <p:nvPr/>
        </p:nvSpPr>
        <p:spPr>
          <a:xfrm>
            <a:off x="7955280" y="4206240"/>
            <a:ext cx="31089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[Order volume and average order value]</a:t>
            </a:r>
            <a:endParaRPr lang="en-US" sz="1400" dirty="0"/>
          </a:p>
          <a:p>
            <a:pPr marL="342900" indent="-342900">
              <a:spcAft>
                <a:spcPts val="600"/>
              </a:spcAft>
              <a:buSzPct val="100000"/>
              <a:buChar char="•"/>
            </a:pPr>
            <a:r>
              <a:rPr lang="en-US" sz="1400" dirty="0">
                <a:solidFill>
                  <a:schemeClr val="tx1"/>
                </a:solidFill>
              </a:rPr>
              <a:t>[Share of non-completed orders]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66070"/>
                </a:solidFill>
              </a:defRPr>
            </a:lvl1pPr>
          </a:lstStyle>
          <a:p>
            <a:pPr algn="l"/>
            <a:fld id="{F7021451-1387-4CA6-816F-3879F97B5CBC}" type="slidenum">
              <a:rPr lang="en-US" b="0"/>
              <a:t>10</a:t>
            </a:fld>
            <a:endParaRPr lang="en-US"/>
          </a:p>
        </p:txBody>
      </p:sp>
      <p:pic>
        <p:nvPicPr>
          <p:cNvPr id="19" name="Picture 18"/>
          <p:cNvPicPr>
            <a:picLocks noChangeAspect="1"/>
          </p:cNvPicPr>
          <p:nvPr/>
        </p:nvPicPr>
        <p:blipFill>
          <a:blip r:embed="rId3"/>
          <a:stretch>
            <a:fillRect/>
          </a:stretch>
        </p:blipFill>
        <p:spPr>
          <a:xfrm>
            <a:off x="822960" y="1737360"/>
            <a:ext cx="6583679" cy="42062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548640"/>
            <a:ext cx="10515600" cy="914400"/>
          </a:xfrm>
          <a:prstGeom prst="rect">
            <a:avLst/>
          </a:prstGeom>
          <a:noFill/>
          <a:ln/>
        </p:spPr>
        <p:txBody>
          <a:bodyPr wrap="square" lIns="0" tIns="0" rIns="0" bIns="0" rtlCol="0" anchor="ctr"/>
          <a:lstStyle/>
          <a:p>
            <a:pPr marL="0" indent="0" algn="l">
              <a:buNone/>
            </a:pPr>
            <a:r>
              <a:rPr lang="en-US" sz="4000" b="1" dirty="0">
                <a:solidFill>
                  <a:schemeClr val="tx1"/>
                </a:solidFill>
                <a:latin typeface="+mj-lt" pitchFamily="34" charset="0"/>
                <a:ea typeface="+mj-lt" pitchFamily="34" charset="-122"/>
                <a:cs typeface="+mj-lt" pitchFamily="34" charset="-120"/>
              </a:rPr>
              <a:t>Sales by Region</a:t>
            </a:r>
            <a:endParaRPr lang="en-US" sz="4000" dirty="0"/>
          </a:p>
        </p:txBody>
      </p:sp>
      <p:sp>
        <p:nvSpPr>
          <p:cNvPr id="4" name="Screenshot placeholder"/>
          <p:cNvSpPr/>
          <p:nvPr/>
        </p:nvSpPr>
        <p:spPr>
          <a:xfrm>
            <a:off x="822960" y="1737360"/>
            <a:ext cx="6583680" cy="4206240"/>
          </a:xfrm>
          <a:prstGeom prst="rect">
            <a:avLst/>
          </a:prstGeom>
          <a:solidFill>
            <a:schemeClr val="bg2"/>
          </a:solidFill>
          <a:ln w="19050">
            <a:solidFill>
              <a:srgbClr val="B8C0D0"/>
            </a:solidFill>
            <a:prstDash val="dash"/>
          </a:ln>
        </p:spPr>
      </p:sp>
      <p:sp>
        <p:nvSpPr>
          <p:cNvPr id="5" name="Text 2"/>
          <p:cNvSpPr txBox="1"/>
          <p:nvPr/>
        </p:nvSpPr>
        <p:spPr>
          <a:xfrm>
            <a:off x="1097280" y="1737360"/>
            <a:ext cx="6035040" cy="4206240"/>
          </a:xfrm>
          <a:prstGeom prst="rect">
            <a:avLst/>
          </a:prstGeom>
          <a:noFill/>
          <a:ln/>
        </p:spPr>
        <p:txBody>
          <a:bodyPr wrap="square" lIns="0" tIns="0" rIns="0" bIns="0" rtlCol="0" anchor="ctr"/>
          <a:lstStyle/>
          <a:p>
            <a:pPr marL="0" indent="0" algn="ctr">
              <a:buNone/>
            </a:pPr>
            <a:r>
              <a:rPr lang="en-US" sz="1600" dirty="0">
                <a:solidFill>
                  <a:schemeClr val="accent4"/>
                </a:solidFill>
              </a:rPr>
              <a:t>Paste dashboard screenshot here</a:t>
            </a:r>
            <a:endParaRPr lang="en-US" sz="1600" dirty="0"/>
          </a:p>
          <a:p>
            <a:pPr marL="0" indent="0" algn="ctr">
              <a:buNone/>
            </a:pPr>
            <a:r>
              <a:rPr lang="en-US" sz="1600" dirty="0">
                <a:solidFill>
                  <a:schemeClr val="accent4"/>
                </a:solidFill>
              </a:rPr>
              <a:t>Sales by Region (bar chart) with the Region slicer</a:t>
            </a:r>
            <a:endParaRPr lang="en-US" sz="1600" dirty="0"/>
          </a:p>
        </p:txBody>
      </p:sp>
      <p:sp>
        <p:nvSpPr>
          <p:cNvPr id="6" name="Insight panel"/>
          <p:cNvSpPr/>
          <p:nvPr/>
        </p:nvSpPr>
        <p:spPr>
          <a:xfrm>
            <a:off x="7680960" y="1737360"/>
            <a:ext cx="3657600" cy="4206240"/>
          </a:xfrm>
          <a:prstGeom prst="roundRect">
            <a:avLst>
              <a:gd name="adj" fmla="val 3000"/>
            </a:avLst>
          </a:prstGeom>
          <a:solidFill>
            <a:schemeClr val="bg2"/>
          </a:solidFill>
          <a:ln w="12700">
            <a:solidFill>
              <a:srgbClr val="DDD8CC"/>
            </a:solidFill>
            <a:prstDash val="solid"/>
          </a:ln>
        </p:spPr>
      </p:sp>
      <p:sp>
        <p:nvSpPr>
          <p:cNvPr id="7" name="Text 4"/>
          <p:cNvSpPr txBox="1"/>
          <p:nvPr/>
        </p:nvSpPr>
        <p:spPr>
          <a:xfrm>
            <a:off x="7955280" y="1920240"/>
            <a:ext cx="3108960" cy="365760"/>
          </a:xfrm>
          <a:prstGeom prst="rect">
            <a:avLst/>
          </a:prstGeom>
          <a:noFill/>
          <a:ln/>
        </p:spPr>
        <p:txBody>
          <a:bodyPr wrap="square" lIns="0" tIns="0" rIns="0" bIns="0" rtlCol="0" anchor="ctr"/>
          <a:lstStyle/>
          <a:p>
            <a:pPr marL="0" indent="0">
              <a:buNone/>
            </a:pPr>
            <a:r>
              <a:rPr lang="en-US" sz="1600" b="1" dirty="0">
                <a:solidFill>
                  <a:schemeClr val="accent3"/>
                </a:solidFill>
              </a:rPr>
              <a:t>What it shows</a:t>
            </a:r>
            <a:endParaRPr lang="en-US" sz="1600" dirty="0"/>
          </a:p>
        </p:txBody>
      </p:sp>
      <p:sp>
        <p:nvSpPr>
          <p:cNvPr id="8" name="Text 5"/>
          <p:cNvSpPr txBox="1"/>
          <p:nvPr/>
        </p:nvSpPr>
        <p:spPr>
          <a:xfrm>
            <a:off x="7955280" y="2331720"/>
            <a:ext cx="3108960" cy="1371600"/>
          </a:xfrm>
          <a:prstGeom prst="rect">
            <a:avLst/>
          </a:prstGeom>
          <a:noFill/>
          <a:ln/>
        </p:spPr>
        <p:txBody>
          <a:bodyPr wrap="square" lIns="0" tIns="0" rIns="0" bIns="0" rtlCol="0" anchor="t"/>
          <a:lstStyle/>
          <a:p>
            <a:pPr marL="0" indent="0">
              <a:buNone/>
            </a:pPr>
            <a:r>
              <a:rPr lang="en-US" sz="1400" dirty="0">
                <a:solidFill>
                  <a:schemeClr val="tx1"/>
                </a:solidFill>
              </a:rPr>
              <a:t>Total sales for each customer region, with a slicer to focus on one region.</a:t>
            </a:r>
            <a:endParaRPr lang="en-US" sz="1400" dirty="0"/>
          </a:p>
        </p:txBody>
      </p:sp>
      <p:sp>
        <p:nvSpPr>
          <p:cNvPr id="9" name="Text 6"/>
          <p:cNvSpPr txBox="1"/>
          <p:nvPr/>
        </p:nvSpPr>
        <p:spPr>
          <a:xfrm>
            <a:off x="7955280" y="3794760"/>
            <a:ext cx="3108960" cy="365760"/>
          </a:xfrm>
          <a:prstGeom prst="rect">
            <a:avLst/>
          </a:prstGeom>
          <a:noFill/>
          <a:ln/>
        </p:spPr>
        <p:txBody>
          <a:bodyPr wrap="square" lIns="0" tIns="0" rIns="0" bIns="0" rtlCol="0" anchor="ctr"/>
          <a:lstStyle/>
          <a:p>
            <a:pPr marL="0" indent="0">
              <a:buNone/>
            </a:pPr>
            <a:r>
              <a:rPr lang="en-US" sz="1600" b="1" dirty="0">
                <a:solidFill>
                  <a:schemeClr val="accent3"/>
                </a:solidFill>
              </a:rPr>
              <a:t>Insights</a:t>
            </a:r>
            <a:endParaRPr lang="en-US" sz="1600" dirty="0"/>
          </a:p>
        </p:txBody>
      </p:sp>
      <p:sp>
        <p:nvSpPr>
          <p:cNvPr id="10" name="Text 7"/>
          <p:cNvSpPr txBox="1"/>
          <p:nvPr/>
        </p:nvSpPr>
        <p:spPr>
          <a:xfrm>
            <a:off x="7955280" y="4206240"/>
            <a:ext cx="31089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[Top region and its share of sales]</a:t>
            </a:r>
            <a:endParaRPr lang="en-US" sz="1400" dirty="0"/>
          </a:p>
          <a:p>
            <a:pPr marL="342900" indent="-342900">
              <a:spcAft>
                <a:spcPts val="600"/>
              </a:spcAft>
              <a:buSzPct val="100000"/>
              <a:buChar char="•"/>
            </a:pPr>
            <a:r>
              <a:rPr lang="en-US" sz="1400" dirty="0">
                <a:solidFill>
                  <a:schemeClr val="tx1"/>
                </a:solidFill>
              </a:rPr>
              <a:t>[Weakest region]</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66070"/>
                </a:solidFill>
              </a:defRPr>
            </a:lvl1pPr>
          </a:lstStyle>
          <a:p>
            <a:pPr algn="l"/>
            <a:fld id="{F7021451-1387-4CA6-816F-3879F97B5CBC}" type="slidenum">
              <a:rPr lang="en-US" b="0"/>
              <a:t>11</a:t>
            </a:fld>
            <a:endParaRPr lang="en-US"/>
          </a:p>
        </p:txBody>
      </p:sp>
      <p:pic>
        <p:nvPicPr>
          <p:cNvPr id="11" name="Picture 10"/>
          <p:cNvPicPr>
            <a:picLocks noChangeAspect="1"/>
          </p:cNvPicPr>
          <p:nvPr/>
        </p:nvPicPr>
        <p:blipFill rotWithShape="1">
          <a:blip r:embed="rId3"/>
          <a:srcRect l="53646" t="38149" r="25939" b="35742"/>
          <a:stretch/>
        </p:blipFill>
        <p:spPr>
          <a:xfrm>
            <a:off x="822960" y="1737360"/>
            <a:ext cx="6583680" cy="42062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548640"/>
            <a:ext cx="10515600" cy="914400"/>
          </a:xfrm>
          <a:prstGeom prst="rect">
            <a:avLst/>
          </a:prstGeom>
          <a:noFill/>
          <a:ln/>
        </p:spPr>
        <p:txBody>
          <a:bodyPr wrap="square" lIns="0" tIns="0" rIns="0" bIns="0" rtlCol="0" anchor="ctr"/>
          <a:lstStyle/>
          <a:p>
            <a:pPr marL="0" indent="0" algn="l">
              <a:buNone/>
            </a:pPr>
            <a:r>
              <a:rPr lang="en-US" sz="4000" b="1" dirty="0">
                <a:solidFill>
                  <a:schemeClr val="tx1"/>
                </a:solidFill>
                <a:latin typeface="+mj-lt" pitchFamily="34" charset="0"/>
                <a:ea typeface="+mj-lt" pitchFamily="34" charset="-122"/>
                <a:cs typeface="+mj-lt" pitchFamily="34" charset="-120"/>
              </a:rPr>
              <a:t>Sales by Category and Product</a:t>
            </a:r>
            <a:endParaRPr lang="en-US" sz="4000" dirty="0"/>
          </a:p>
        </p:txBody>
      </p:sp>
      <p:sp>
        <p:nvSpPr>
          <p:cNvPr id="4" name="Screenshot placeholder"/>
          <p:cNvSpPr/>
          <p:nvPr/>
        </p:nvSpPr>
        <p:spPr>
          <a:xfrm>
            <a:off x="822960" y="1737360"/>
            <a:ext cx="6583680" cy="4206240"/>
          </a:xfrm>
          <a:prstGeom prst="rect">
            <a:avLst/>
          </a:prstGeom>
          <a:solidFill>
            <a:schemeClr val="bg2"/>
          </a:solidFill>
          <a:ln w="19050">
            <a:solidFill>
              <a:srgbClr val="B8C0D0"/>
            </a:solidFill>
            <a:prstDash val="dash"/>
          </a:ln>
        </p:spPr>
      </p:sp>
      <p:sp>
        <p:nvSpPr>
          <p:cNvPr id="5" name="Text 2"/>
          <p:cNvSpPr txBox="1"/>
          <p:nvPr/>
        </p:nvSpPr>
        <p:spPr>
          <a:xfrm>
            <a:off x="1097280" y="1737360"/>
            <a:ext cx="6035040" cy="4206240"/>
          </a:xfrm>
          <a:prstGeom prst="rect">
            <a:avLst/>
          </a:prstGeom>
          <a:noFill/>
          <a:ln/>
        </p:spPr>
        <p:txBody>
          <a:bodyPr wrap="square" lIns="0" tIns="0" rIns="0" bIns="0" rtlCol="0" anchor="ctr"/>
          <a:lstStyle/>
          <a:p>
            <a:pPr marL="0" indent="0" algn="ctr">
              <a:buNone/>
            </a:pPr>
            <a:r>
              <a:rPr lang="en-US" sz="1600" dirty="0">
                <a:solidFill>
                  <a:schemeClr val="accent4"/>
                </a:solidFill>
              </a:rPr>
              <a:t>Paste dashboard screenshot here</a:t>
            </a:r>
            <a:endParaRPr lang="en-US" sz="1600" dirty="0"/>
          </a:p>
          <a:p>
            <a:pPr marL="0" indent="0" algn="ctr">
              <a:buNone/>
            </a:pPr>
            <a:r>
              <a:rPr lang="en-US" sz="1600" dirty="0">
                <a:solidFill>
                  <a:schemeClr val="accent4"/>
                </a:solidFill>
              </a:rPr>
              <a:t>Sales by Category (column) and Sales by Product (bar)</a:t>
            </a:r>
            <a:endParaRPr lang="en-US" sz="1600" dirty="0"/>
          </a:p>
        </p:txBody>
      </p:sp>
      <p:sp>
        <p:nvSpPr>
          <p:cNvPr id="6" name="Insight panel"/>
          <p:cNvSpPr/>
          <p:nvPr/>
        </p:nvSpPr>
        <p:spPr>
          <a:xfrm>
            <a:off x="7680960" y="1737360"/>
            <a:ext cx="3657600" cy="4206240"/>
          </a:xfrm>
          <a:prstGeom prst="roundRect">
            <a:avLst>
              <a:gd name="adj" fmla="val 3000"/>
            </a:avLst>
          </a:prstGeom>
          <a:solidFill>
            <a:schemeClr val="bg2"/>
          </a:solidFill>
          <a:ln w="12700">
            <a:solidFill>
              <a:srgbClr val="DDD8CC"/>
            </a:solidFill>
            <a:prstDash val="solid"/>
          </a:ln>
        </p:spPr>
      </p:sp>
      <p:sp>
        <p:nvSpPr>
          <p:cNvPr id="7" name="Text 4"/>
          <p:cNvSpPr txBox="1"/>
          <p:nvPr/>
        </p:nvSpPr>
        <p:spPr>
          <a:xfrm>
            <a:off x="7955280" y="1920240"/>
            <a:ext cx="3108960" cy="365760"/>
          </a:xfrm>
          <a:prstGeom prst="rect">
            <a:avLst/>
          </a:prstGeom>
          <a:noFill/>
          <a:ln/>
        </p:spPr>
        <p:txBody>
          <a:bodyPr wrap="square" lIns="0" tIns="0" rIns="0" bIns="0" rtlCol="0" anchor="ctr"/>
          <a:lstStyle/>
          <a:p>
            <a:pPr marL="0" indent="0">
              <a:buNone/>
            </a:pPr>
            <a:r>
              <a:rPr lang="en-US" sz="1600" b="1" dirty="0">
                <a:solidFill>
                  <a:schemeClr val="accent3"/>
                </a:solidFill>
              </a:rPr>
              <a:t>What it shows</a:t>
            </a:r>
            <a:endParaRPr lang="en-US" sz="1600" dirty="0"/>
          </a:p>
        </p:txBody>
      </p:sp>
      <p:sp>
        <p:nvSpPr>
          <p:cNvPr id="8" name="Text 5"/>
          <p:cNvSpPr txBox="1"/>
          <p:nvPr/>
        </p:nvSpPr>
        <p:spPr>
          <a:xfrm>
            <a:off x="7955280" y="2331720"/>
            <a:ext cx="3108960" cy="1371600"/>
          </a:xfrm>
          <a:prstGeom prst="rect">
            <a:avLst/>
          </a:prstGeom>
          <a:noFill/>
          <a:ln/>
        </p:spPr>
        <p:txBody>
          <a:bodyPr wrap="square" lIns="0" tIns="0" rIns="0" bIns="0" rtlCol="0" anchor="t"/>
          <a:lstStyle/>
          <a:p>
            <a:pPr marL="0" indent="0">
              <a:buNone/>
            </a:pPr>
            <a:r>
              <a:rPr lang="en-US" sz="1400" dirty="0">
                <a:solidFill>
                  <a:schemeClr val="tx1"/>
                </a:solidFill>
              </a:rPr>
              <a:t>Which categories and products bring in the most sales.</a:t>
            </a:r>
            <a:endParaRPr lang="en-US" sz="1400" dirty="0"/>
          </a:p>
        </p:txBody>
      </p:sp>
      <p:sp>
        <p:nvSpPr>
          <p:cNvPr id="9" name="Text 6"/>
          <p:cNvSpPr txBox="1"/>
          <p:nvPr/>
        </p:nvSpPr>
        <p:spPr>
          <a:xfrm>
            <a:off x="7955280" y="3794760"/>
            <a:ext cx="3108960" cy="365760"/>
          </a:xfrm>
          <a:prstGeom prst="rect">
            <a:avLst/>
          </a:prstGeom>
          <a:noFill/>
          <a:ln/>
        </p:spPr>
        <p:txBody>
          <a:bodyPr wrap="square" lIns="0" tIns="0" rIns="0" bIns="0" rtlCol="0" anchor="ctr"/>
          <a:lstStyle/>
          <a:p>
            <a:pPr marL="0" indent="0">
              <a:buNone/>
            </a:pPr>
            <a:r>
              <a:rPr lang="en-US" sz="1600" b="1" dirty="0">
                <a:solidFill>
                  <a:schemeClr val="accent3"/>
                </a:solidFill>
              </a:rPr>
              <a:t>Insights</a:t>
            </a:r>
            <a:endParaRPr lang="en-US" sz="1600" dirty="0"/>
          </a:p>
        </p:txBody>
      </p:sp>
      <p:sp>
        <p:nvSpPr>
          <p:cNvPr id="10" name="Text 7"/>
          <p:cNvSpPr txBox="1"/>
          <p:nvPr/>
        </p:nvSpPr>
        <p:spPr>
          <a:xfrm>
            <a:off x="7955280" y="4206240"/>
            <a:ext cx="31089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[Leading category]</a:t>
            </a:r>
            <a:endParaRPr lang="en-US" sz="1400" dirty="0"/>
          </a:p>
          <a:p>
            <a:pPr marL="342900" indent="-342900">
              <a:spcAft>
                <a:spcPts val="600"/>
              </a:spcAft>
              <a:buSzPct val="100000"/>
              <a:buChar char="•"/>
            </a:pPr>
            <a:r>
              <a:rPr lang="en-US" sz="1400" dirty="0">
                <a:solidFill>
                  <a:schemeClr val="tx1"/>
                </a:solidFill>
              </a:rPr>
              <a:t>[Top products and how concentrated sales are]</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66070"/>
                </a:solidFill>
              </a:defRPr>
            </a:lvl1pPr>
          </a:lstStyle>
          <a:p>
            <a:pPr algn="l"/>
            <a:fld id="{F7021451-1387-4CA6-816F-3879F97B5CBC}" type="slidenum">
              <a:rPr lang="en-US" b="0"/>
              <a:t>12</a:t>
            </a:fld>
            <a:endParaRPr lang="en-US"/>
          </a:p>
        </p:txBody>
      </p:sp>
      <p:pic>
        <p:nvPicPr>
          <p:cNvPr id="11" name="Picture 10"/>
          <p:cNvPicPr>
            <a:picLocks noChangeAspect="1"/>
          </p:cNvPicPr>
          <p:nvPr/>
        </p:nvPicPr>
        <p:blipFill rotWithShape="1">
          <a:blip r:embed="rId3"/>
          <a:srcRect l="11106" t="64169" r="68089" b="10376"/>
          <a:stretch/>
        </p:blipFill>
        <p:spPr>
          <a:xfrm>
            <a:off x="822960" y="1737360"/>
            <a:ext cx="6583679" cy="42062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548640"/>
            <a:ext cx="10515600" cy="914400"/>
          </a:xfrm>
          <a:prstGeom prst="rect">
            <a:avLst/>
          </a:prstGeom>
          <a:noFill/>
          <a:ln/>
        </p:spPr>
        <p:txBody>
          <a:bodyPr wrap="square" lIns="0" tIns="0" rIns="0" bIns="0" rtlCol="0" anchor="ctr"/>
          <a:lstStyle/>
          <a:p>
            <a:pPr marL="0" indent="0" algn="l">
              <a:buNone/>
            </a:pPr>
            <a:r>
              <a:rPr lang="en-US" sz="4000" b="1" dirty="0">
                <a:solidFill>
                  <a:schemeClr val="tx1"/>
                </a:solidFill>
                <a:latin typeface="+mj-lt" pitchFamily="34" charset="0"/>
                <a:ea typeface="+mj-lt" pitchFamily="34" charset="-122"/>
                <a:cs typeface="+mj-lt" pitchFamily="34" charset="-120"/>
              </a:rPr>
              <a:t>Sales by Customer Segment</a:t>
            </a:r>
            <a:endParaRPr lang="en-US" sz="4000" dirty="0"/>
          </a:p>
        </p:txBody>
      </p:sp>
      <p:sp>
        <p:nvSpPr>
          <p:cNvPr id="4" name="Screenshot placeholder"/>
          <p:cNvSpPr/>
          <p:nvPr/>
        </p:nvSpPr>
        <p:spPr>
          <a:xfrm>
            <a:off x="822960" y="1737360"/>
            <a:ext cx="6583680" cy="4206240"/>
          </a:xfrm>
          <a:prstGeom prst="rect">
            <a:avLst/>
          </a:prstGeom>
          <a:solidFill>
            <a:schemeClr val="bg2"/>
          </a:solidFill>
          <a:ln w="19050">
            <a:solidFill>
              <a:srgbClr val="B8C0D0"/>
            </a:solidFill>
            <a:prstDash val="dash"/>
          </a:ln>
        </p:spPr>
      </p:sp>
      <p:sp>
        <p:nvSpPr>
          <p:cNvPr id="5" name="Text 2"/>
          <p:cNvSpPr txBox="1"/>
          <p:nvPr/>
        </p:nvSpPr>
        <p:spPr>
          <a:xfrm>
            <a:off x="1097280" y="1737360"/>
            <a:ext cx="6035040" cy="4206240"/>
          </a:xfrm>
          <a:prstGeom prst="rect">
            <a:avLst/>
          </a:prstGeom>
          <a:noFill/>
          <a:ln/>
        </p:spPr>
        <p:txBody>
          <a:bodyPr wrap="square" lIns="0" tIns="0" rIns="0" bIns="0" rtlCol="0" anchor="ctr"/>
          <a:lstStyle/>
          <a:p>
            <a:pPr marL="0" indent="0" algn="ctr">
              <a:buNone/>
            </a:pPr>
            <a:r>
              <a:rPr lang="en-US" sz="1600" dirty="0">
                <a:solidFill>
                  <a:schemeClr val="accent4"/>
                </a:solidFill>
              </a:rPr>
              <a:t>Paste dashboard screenshot here</a:t>
            </a:r>
            <a:endParaRPr lang="en-US" sz="1600" dirty="0"/>
          </a:p>
          <a:p>
            <a:pPr marL="0" indent="0" algn="ctr">
              <a:buNone/>
            </a:pPr>
            <a:r>
              <a:rPr lang="en-US" sz="1600" dirty="0">
                <a:solidFill>
                  <a:schemeClr val="accent4"/>
                </a:solidFill>
              </a:rPr>
              <a:t>Sales by Customer Segment (donut chart)</a:t>
            </a:r>
            <a:endParaRPr lang="en-US" sz="1600" dirty="0"/>
          </a:p>
        </p:txBody>
      </p:sp>
      <p:sp>
        <p:nvSpPr>
          <p:cNvPr id="6" name="Insight panel"/>
          <p:cNvSpPr/>
          <p:nvPr/>
        </p:nvSpPr>
        <p:spPr>
          <a:xfrm>
            <a:off x="7680960" y="1737360"/>
            <a:ext cx="3657600" cy="4206240"/>
          </a:xfrm>
          <a:prstGeom prst="roundRect">
            <a:avLst>
              <a:gd name="adj" fmla="val 3000"/>
            </a:avLst>
          </a:prstGeom>
          <a:solidFill>
            <a:schemeClr val="bg2"/>
          </a:solidFill>
          <a:ln w="12700">
            <a:solidFill>
              <a:srgbClr val="DDD8CC"/>
            </a:solidFill>
            <a:prstDash val="solid"/>
          </a:ln>
        </p:spPr>
      </p:sp>
      <p:sp>
        <p:nvSpPr>
          <p:cNvPr id="7" name="Text 4"/>
          <p:cNvSpPr txBox="1"/>
          <p:nvPr/>
        </p:nvSpPr>
        <p:spPr>
          <a:xfrm>
            <a:off x="7955280" y="1920240"/>
            <a:ext cx="3108960" cy="365760"/>
          </a:xfrm>
          <a:prstGeom prst="rect">
            <a:avLst/>
          </a:prstGeom>
          <a:noFill/>
          <a:ln/>
        </p:spPr>
        <p:txBody>
          <a:bodyPr wrap="square" lIns="0" tIns="0" rIns="0" bIns="0" rtlCol="0" anchor="ctr"/>
          <a:lstStyle/>
          <a:p>
            <a:pPr marL="0" indent="0">
              <a:buNone/>
            </a:pPr>
            <a:r>
              <a:rPr lang="en-US" sz="1600" b="1" dirty="0">
                <a:solidFill>
                  <a:schemeClr val="accent3"/>
                </a:solidFill>
              </a:rPr>
              <a:t>What it shows</a:t>
            </a:r>
            <a:endParaRPr lang="en-US" sz="1600" dirty="0"/>
          </a:p>
        </p:txBody>
      </p:sp>
      <p:sp>
        <p:nvSpPr>
          <p:cNvPr id="8" name="Text 5"/>
          <p:cNvSpPr txBox="1"/>
          <p:nvPr/>
        </p:nvSpPr>
        <p:spPr>
          <a:xfrm>
            <a:off x="7955280" y="2331720"/>
            <a:ext cx="3108960" cy="1371600"/>
          </a:xfrm>
          <a:prstGeom prst="rect">
            <a:avLst/>
          </a:prstGeom>
          <a:noFill/>
          <a:ln/>
        </p:spPr>
        <p:txBody>
          <a:bodyPr wrap="square" lIns="0" tIns="0" rIns="0" bIns="0" rtlCol="0" anchor="t"/>
          <a:lstStyle/>
          <a:p>
            <a:pPr marL="0" indent="0">
              <a:buNone/>
            </a:pPr>
            <a:r>
              <a:rPr lang="en-US" sz="1400" dirty="0">
                <a:solidFill>
                  <a:schemeClr val="tx1"/>
                </a:solidFill>
              </a:rPr>
              <a:t>How total sales divide across customer segments.</a:t>
            </a:r>
            <a:endParaRPr lang="en-US" sz="1400" dirty="0"/>
          </a:p>
        </p:txBody>
      </p:sp>
      <p:sp>
        <p:nvSpPr>
          <p:cNvPr id="9" name="Text 6"/>
          <p:cNvSpPr txBox="1"/>
          <p:nvPr/>
        </p:nvSpPr>
        <p:spPr>
          <a:xfrm>
            <a:off x="7955280" y="3794760"/>
            <a:ext cx="3108960" cy="365760"/>
          </a:xfrm>
          <a:prstGeom prst="rect">
            <a:avLst/>
          </a:prstGeom>
          <a:noFill/>
          <a:ln/>
        </p:spPr>
        <p:txBody>
          <a:bodyPr wrap="square" lIns="0" tIns="0" rIns="0" bIns="0" rtlCol="0" anchor="ctr"/>
          <a:lstStyle/>
          <a:p>
            <a:pPr marL="0" indent="0">
              <a:buNone/>
            </a:pPr>
            <a:r>
              <a:rPr lang="en-US" sz="1600" b="1" dirty="0">
                <a:solidFill>
                  <a:schemeClr val="accent3"/>
                </a:solidFill>
              </a:rPr>
              <a:t>Insights</a:t>
            </a:r>
            <a:endParaRPr lang="en-US" sz="1600" dirty="0"/>
          </a:p>
        </p:txBody>
      </p:sp>
      <p:sp>
        <p:nvSpPr>
          <p:cNvPr id="10" name="Text 7"/>
          <p:cNvSpPr txBox="1"/>
          <p:nvPr/>
        </p:nvSpPr>
        <p:spPr>
          <a:xfrm>
            <a:off x="7955280" y="4206240"/>
            <a:ext cx="31089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[Largest segment and its share]</a:t>
            </a:r>
            <a:endParaRPr lang="en-US" sz="1400" dirty="0"/>
          </a:p>
          <a:p>
            <a:pPr marL="342900" indent="-342900">
              <a:spcAft>
                <a:spcPts val="600"/>
              </a:spcAft>
              <a:buSzPct val="100000"/>
              <a:buChar char="•"/>
            </a:pPr>
            <a:r>
              <a:rPr lang="en-US" sz="1400" dirty="0">
                <a:solidFill>
                  <a:schemeClr val="tx1"/>
                </a:solidFill>
              </a:rPr>
              <a:t>[Segment with room to grow]</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66070"/>
                </a:solidFill>
              </a:defRPr>
            </a:lvl1pPr>
          </a:lstStyle>
          <a:p>
            <a:pPr algn="l"/>
            <a:fld id="{F7021451-1387-4CA6-816F-3879F97B5CBC}" type="slidenum">
              <a:rPr lang="en-US" b="0"/>
              <a:t>13</a:t>
            </a:fld>
            <a:endParaRPr lang="en-US"/>
          </a:p>
        </p:txBody>
      </p:sp>
      <p:pic>
        <p:nvPicPr>
          <p:cNvPr id="11" name="Picture 10"/>
          <p:cNvPicPr>
            <a:picLocks noChangeAspect="1"/>
          </p:cNvPicPr>
          <p:nvPr/>
        </p:nvPicPr>
        <p:blipFill rotWithShape="1">
          <a:blip r:embed="rId3"/>
          <a:srcRect l="31594" t="64029" r="46335" b="10235"/>
          <a:stretch/>
        </p:blipFill>
        <p:spPr>
          <a:xfrm>
            <a:off x="822961" y="1737360"/>
            <a:ext cx="6583680" cy="4206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548640"/>
            <a:ext cx="10515600" cy="914400"/>
          </a:xfrm>
          <a:prstGeom prst="rect">
            <a:avLst/>
          </a:prstGeom>
          <a:noFill/>
          <a:ln/>
        </p:spPr>
        <p:txBody>
          <a:bodyPr wrap="square" lIns="0" tIns="0" rIns="0" bIns="0" rtlCol="0" anchor="ctr"/>
          <a:lstStyle/>
          <a:p>
            <a:pPr marL="0" indent="0" algn="l">
              <a:buNone/>
            </a:pPr>
            <a:r>
              <a:rPr lang="en-US" sz="4000" b="1" dirty="0">
                <a:solidFill>
                  <a:schemeClr val="tx1"/>
                </a:solidFill>
                <a:latin typeface="+mj-lt" pitchFamily="34" charset="0"/>
                <a:ea typeface="+mj-lt" pitchFamily="34" charset="-122"/>
                <a:cs typeface="+mj-lt" pitchFamily="34" charset="-120"/>
              </a:rPr>
              <a:t>Key Insights</a:t>
            </a:r>
            <a:endParaRPr lang="en-US" sz="4000" dirty="0"/>
          </a:p>
        </p:txBody>
      </p:sp>
      <p:sp>
        <p:nvSpPr>
          <p:cNvPr id="4" name="Insight card 1"/>
          <p:cNvSpPr/>
          <p:nvPr/>
        </p:nvSpPr>
        <p:spPr>
          <a:xfrm>
            <a:off x="822960" y="1828800"/>
            <a:ext cx="5166360" cy="2011680"/>
          </a:xfrm>
          <a:prstGeom prst="roundRect">
            <a:avLst>
              <a:gd name="adj" fmla="val 5455"/>
            </a:avLst>
          </a:prstGeom>
          <a:solidFill>
            <a:schemeClr val="bg2"/>
          </a:solidFill>
          <a:ln w="12700">
            <a:solidFill>
              <a:srgbClr val="DDD8CC"/>
            </a:solidFill>
            <a:prstDash val="solid"/>
          </a:ln>
        </p:spPr>
      </p:sp>
      <p:sp>
        <p:nvSpPr>
          <p:cNvPr id="5" name="Text 2"/>
          <p:cNvSpPr txBox="1"/>
          <p:nvPr/>
        </p:nvSpPr>
        <p:spPr>
          <a:xfrm>
            <a:off x="1143000" y="2103120"/>
            <a:ext cx="4526280" cy="457200"/>
          </a:xfrm>
          <a:prstGeom prst="rect">
            <a:avLst/>
          </a:prstGeom>
          <a:noFill/>
          <a:ln/>
        </p:spPr>
        <p:txBody>
          <a:bodyPr wrap="square" lIns="0" tIns="0" rIns="0" bIns="0" rtlCol="0" anchor="t"/>
          <a:lstStyle/>
          <a:p>
            <a:pPr marL="0" indent="0">
              <a:buNone/>
            </a:pPr>
            <a:r>
              <a:rPr lang="en-US" sz="2200" b="1" dirty="0">
                <a:solidFill>
                  <a:schemeClr val="accent2"/>
                </a:solidFill>
              </a:rPr>
              <a:t>Sales</a:t>
            </a:r>
            <a:endParaRPr lang="en-US" sz="2200" dirty="0"/>
          </a:p>
        </p:txBody>
      </p:sp>
      <p:sp>
        <p:nvSpPr>
          <p:cNvPr id="6" name="Text 3"/>
          <p:cNvSpPr txBox="1"/>
          <p:nvPr/>
        </p:nvSpPr>
        <p:spPr>
          <a:xfrm>
            <a:off x="1143000" y="2743200"/>
            <a:ext cx="4526280" cy="914400"/>
          </a:xfrm>
          <a:prstGeom prst="rect">
            <a:avLst/>
          </a:prstGeom>
          <a:noFill/>
          <a:ln/>
        </p:spPr>
        <p:txBody>
          <a:bodyPr wrap="square" lIns="0" tIns="0" rIns="0" bIns="0" rtlCol="0" anchor="t"/>
          <a:lstStyle/>
          <a:p>
            <a:pPr marL="0" indent="0">
              <a:buNone/>
            </a:pPr>
            <a:r>
              <a:rPr lang="en-US" sz="1800" dirty="0">
                <a:solidFill>
                  <a:schemeClr val="accent4"/>
                </a:solidFill>
              </a:rPr>
              <a:t>[Top region and category drive most of the sales]</a:t>
            </a:r>
            <a:endParaRPr lang="en-US" sz="1800" dirty="0"/>
          </a:p>
        </p:txBody>
      </p:sp>
      <p:sp>
        <p:nvSpPr>
          <p:cNvPr id="7" name="Insight card 2"/>
          <p:cNvSpPr/>
          <p:nvPr/>
        </p:nvSpPr>
        <p:spPr>
          <a:xfrm>
            <a:off x="6172200" y="1828800"/>
            <a:ext cx="5166360" cy="2011680"/>
          </a:xfrm>
          <a:prstGeom prst="roundRect">
            <a:avLst>
              <a:gd name="adj" fmla="val 5455"/>
            </a:avLst>
          </a:prstGeom>
          <a:solidFill>
            <a:schemeClr val="bg2"/>
          </a:solidFill>
          <a:ln w="12700">
            <a:solidFill>
              <a:srgbClr val="DDD8CC"/>
            </a:solidFill>
            <a:prstDash val="solid"/>
          </a:ln>
        </p:spPr>
      </p:sp>
      <p:sp>
        <p:nvSpPr>
          <p:cNvPr id="8" name="Text 5"/>
          <p:cNvSpPr txBox="1"/>
          <p:nvPr/>
        </p:nvSpPr>
        <p:spPr>
          <a:xfrm>
            <a:off x="6492240" y="2103120"/>
            <a:ext cx="4526280" cy="457200"/>
          </a:xfrm>
          <a:prstGeom prst="rect">
            <a:avLst/>
          </a:prstGeom>
          <a:noFill/>
          <a:ln/>
        </p:spPr>
        <p:txBody>
          <a:bodyPr wrap="square" lIns="0" tIns="0" rIns="0" bIns="0" rtlCol="0" anchor="t"/>
          <a:lstStyle/>
          <a:p>
            <a:pPr marL="0" indent="0">
              <a:buNone/>
            </a:pPr>
            <a:r>
              <a:rPr lang="en-US" sz="2200" b="1" dirty="0">
                <a:solidFill>
                  <a:schemeClr val="accent2"/>
                </a:solidFill>
              </a:rPr>
              <a:t>Profitability</a:t>
            </a:r>
            <a:endParaRPr lang="en-US" sz="2200" dirty="0"/>
          </a:p>
        </p:txBody>
      </p:sp>
      <p:sp>
        <p:nvSpPr>
          <p:cNvPr id="9" name="Text 6"/>
          <p:cNvSpPr txBox="1"/>
          <p:nvPr/>
        </p:nvSpPr>
        <p:spPr>
          <a:xfrm>
            <a:off x="6492240" y="2743200"/>
            <a:ext cx="4526280" cy="914400"/>
          </a:xfrm>
          <a:prstGeom prst="rect">
            <a:avLst/>
          </a:prstGeom>
          <a:noFill/>
          <a:ln/>
        </p:spPr>
        <p:txBody>
          <a:bodyPr wrap="square" lIns="0" tIns="0" rIns="0" bIns="0" rtlCol="0" anchor="t"/>
          <a:lstStyle/>
          <a:p>
            <a:pPr marL="0" indent="0">
              <a:buNone/>
            </a:pPr>
            <a:r>
              <a:rPr lang="en-US" sz="1800" dirty="0">
                <a:solidFill>
                  <a:schemeClr val="accent4"/>
                </a:solidFill>
              </a:rPr>
              <a:t>[Profit margin is __% and is strongest in __]</a:t>
            </a:r>
            <a:endParaRPr lang="en-US" sz="1800" dirty="0"/>
          </a:p>
        </p:txBody>
      </p:sp>
      <p:sp>
        <p:nvSpPr>
          <p:cNvPr id="10" name="Insight card 3"/>
          <p:cNvSpPr/>
          <p:nvPr/>
        </p:nvSpPr>
        <p:spPr>
          <a:xfrm>
            <a:off x="822960" y="4023360"/>
            <a:ext cx="5166360" cy="2011680"/>
          </a:xfrm>
          <a:prstGeom prst="roundRect">
            <a:avLst>
              <a:gd name="adj" fmla="val 5455"/>
            </a:avLst>
          </a:prstGeom>
          <a:solidFill>
            <a:schemeClr val="bg2"/>
          </a:solidFill>
          <a:ln w="12700">
            <a:solidFill>
              <a:srgbClr val="DDD8CC"/>
            </a:solidFill>
            <a:prstDash val="solid"/>
          </a:ln>
        </p:spPr>
      </p:sp>
      <p:sp>
        <p:nvSpPr>
          <p:cNvPr id="11" name="Text 8"/>
          <p:cNvSpPr txBox="1"/>
          <p:nvPr/>
        </p:nvSpPr>
        <p:spPr>
          <a:xfrm>
            <a:off x="1143000" y="4297680"/>
            <a:ext cx="4526280" cy="457200"/>
          </a:xfrm>
          <a:prstGeom prst="rect">
            <a:avLst/>
          </a:prstGeom>
          <a:noFill/>
          <a:ln/>
        </p:spPr>
        <p:txBody>
          <a:bodyPr wrap="square" lIns="0" tIns="0" rIns="0" bIns="0" rtlCol="0" anchor="t"/>
          <a:lstStyle/>
          <a:p>
            <a:pPr marL="0" indent="0">
              <a:buNone/>
            </a:pPr>
            <a:r>
              <a:rPr lang="en-US" sz="2200" b="1" dirty="0">
                <a:solidFill>
                  <a:schemeClr val="accent2"/>
                </a:solidFill>
              </a:rPr>
              <a:t>Customers</a:t>
            </a:r>
            <a:endParaRPr lang="en-US" sz="2200" dirty="0"/>
          </a:p>
        </p:txBody>
      </p:sp>
      <p:sp>
        <p:nvSpPr>
          <p:cNvPr id="12" name="Text 9"/>
          <p:cNvSpPr txBox="1"/>
          <p:nvPr/>
        </p:nvSpPr>
        <p:spPr>
          <a:xfrm>
            <a:off x="1143000" y="4937760"/>
            <a:ext cx="4526280" cy="914400"/>
          </a:xfrm>
          <a:prstGeom prst="rect">
            <a:avLst/>
          </a:prstGeom>
          <a:noFill/>
          <a:ln/>
        </p:spPr>
        <p:txBody>
          <a:bodyPr wrap="square" lIns="0" tIns="0" rIns="0" bIns="0" rtlCol="0" anchor="t"/>
          <a:lstStyle/>
          <a:p>
            <a:pPr marL="0" indent="0">
              <a:buNone/>
            </a:pPr>
            <a:r>
              <a:rPr lang="en-US" sz="1800" dirty="0">
                <a:solidFill>
                  <a:schemeClr val="accent4"/>
                </a:solidFill>
              </a:rPr>
              <a:t>[__ is the largest customer segment]</a:t>
            </a:r>
            <a:endParaRPr lang="en-US" sz="1800" dirty="0"/>
          </a:p>
        </p:txBody>
      </p:sp>
      <p:sp>
        <p:nvSpPr>
          <p:cNvPr id="13" name="Insight card 4"/>
          <p:cNvSpPr/>
          <p:nvPr/>
        </p:nvSpPr>
        <p:spPr>
          <a:xfrm>
            <a:off x="6172200" y="4023360"/>
            <a:ext cx="5166360" cy="2011680"/>
          </a:xfrm>
          <a:prstGeom prst="roundRect">
            <a:avLst>
              <a:gd name="adj" fmla="val 5455"/>
            </a:avLst>
          </a:prstGeom>
          <a:solidFill>
            <a:schemeClr val="bg2"/>
          </a:solidFill>
          <a:ln w="12700">
            <a:solidFill>
              <a:srgbClr val="DDD8CC"/>
            </a:solidFill>
            <a:prstDash val="solid"/>
          </a:ln>
        </p:spPr>
      </p:sp>
      <p:sp>
        <p:nvSpPr>
          <p:cNvPr id="14" name="Text 11"/>
          <p:cNvSpPr txBox="1"/>
          <p:nvPr/>
        </p:nvSpPr>
        <p:spPr>
          <a:xfrm>
            <a:off x="6492240" y="4297680"/>
            <a:ext cx="4526280" cy="457200"/>
          </a:xfrm>
          <a:prstGeom prst="rect">
            <a:avLst/>
          </a:prstGeom>
          <a:noFill/>
          <a:ln/>
        </p:spPr>
        <p:txBody>
          <a:bodyPr wrap="square" lIns="0" tIns="0" rIns="0" bIns="0" rtlCol="0" anchor="t"/>
          <a:lstStyle/>
          <a:p>
            <a:pPr marL="0" indent="0">
              <a:buNone/>
            </a:pPr>
            <a:r>
              <a:rPr lang="en-US" sz="2200" b="1" dirty="0">
                <a:solidFill>
                  <a:schemeClr val="accent2"/>
                </a:solidFill>
              </a:rPr>
              <a:t>Orders</a:t>
            </a:r>
            <a:endParaRPr lang="en-US" sz="2200" dirty="0"/>
          </a:p>
        </p:txBody>
      </p:sp>
      <p:sp>
        <p:nvSpPr>
          <p:cNvPr id="15" name="Text 12"/>
          <p:cNvSpPr txBox="1"/>
          <p:nvPr/>
        </p:nvSpPr>
        <p:spPr>
          <a:xfrm>
            <a:off x="6492240" y="4937760"/>
            <a:ext cx="4526280" cy="914400"/>
          </a:xfrm>
          <a:prstGeom prst="rect">
            <a:avLst/>
          </a:prstGeom>
          <a:noFill/>
          <a:ln/>
        </p:spPr>
        <p:txBody>
          <a:bodyPr wrap="square" lIns="0" tIns="0" rIns="0" bIns="0" rtlCol="0" anchor="t"/>
          <a:lstStyle/>
          <a:p>
            <a:pPr marL="0" indent="0">
              <a:buNone/>
            </a:pPr>
            <a:r>
              <a:rPr lang="en-US" sz="1800" dirty="0">
                <a:solidFill>
                  <a:schemeClr val="accent4"/>
                </a:solidFill>
              </a:rPr>
              <a:t>[__% of orders are not completed]</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66070"/>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548640"/>
            <a:ext cx="10515600" cy="914400"/>
          </a:xfrm>
          <a:prstGeom prst="rect">
            <a:avLst/>
          </a:prstGeom>
          <a:noFill/>
          <a:ln/>
        </p:spPr>
        <p:txBody>
          <a:bodyPr wrap="square" lIns="0" tIns="0" rIns="0" bIns="0" rtlCol="0" anchor="ctr"/>
          <a:lstStyle/>
          <a:p>
            <a:pPr marL="0" indent="0" algn="l">
              <a:buNone/>
            </a:pPr>
            <a:r>
              <a:rPr lang="en-US" sz="4000" b="1" dirty="0">
                <a:solidFill>
                  <a:schemeClr val="tx1"/>
                </a:solidFill>
                <a:latin typeface="+mj-lt" pitchFamily="34" charset="0"/>
                <a:ea typeface="+mj-lt" pitchFamily="34" charset="-122"/>
                <a:cs typeface="+mj-lt" pitchFamily="34" charset="-120"/>
              </a:rPr>
              <a:t>Recommendations</a:t>
            </a:r>
            <a:endParaRPr lang="en-US" sz="4000" dirty="0"/>
          </a:p>
        </p:txBody>
      </p:sp>
      <p:sp>
        <p:nvSpPr>
          <p:cNvPr id="4" name="Recommendation 1"/>
          <p:cNvSpPr/>
          <p:nvPr/>
        </p:nvSpPr>
        <p:spPr>
          <a:xfrm>
            <a:off x="822960" y="1600200"/>
            <a:ext cx="10488168" cy="804672"/>
          </a:xfrm>
          <a:prstGeom prst="roundRect">
            <a:avLst>
              <a:gd name="adj" fmla="val 13636"/>
            </a:avLst>
          </a:prstGeom>
          <a:solidFill>
            <a:schemeClr val="bg2"/>
          </a:solidFill>
          <a:ln w="12700">
            <a:solidFill>
              <a:srgbClr val="DDD8CC"/>
            </a:solidFill>
            <a:prstDash val="solid"/>
          </a:ln>
        </p:spPr>
      </p:sp>
      <p:sp>
        <p:nvSpPr>
          <p:cNvPr id="5" name="Text 2"/>
          <p:cNvSpPr txBox="1"/>
          <p:nvPr/>
        </p:nvSpPr>
        <p:spPr>
          <a:xfrm>
            <a:off x="1051560" y="1600200"/>
            <a:ext cx="548640" cy="804672"/>
          </a:xfrm>
          <a:prstGeom prst="rect">
            <a:avLst/>
          </a:prstGeom>
          <a:noFill/>
          <a:ln/>
        </p:spPr>
        <p:txBody>
          <a:bodyPr wrap="square" lIns="0" tIns="0" rIns="0" bIns="0" rtlCol="0" anchor="ctr"/>
          <a:lstStyle/>
          <a:p>
            <a:pPr marL="0" indent="0">
              <a:buNone/>
            </a:pPr>
            <a:r>
              <a:rPr lang="en-US" sz="2800" b="1" dirty="0">
                <a:solidFill>
                  <a:schemeClr val="accent3"/>
                </a:solidFill>
                <a:latin typeface="+mj-lt" pitchFamily="34" charset="0"/>
                <a:ea typeface="+mj-lt" pitchFamily="34" charset="-122"/>
                <a:cs typeface="+mj-lt" pitchFamily="34" charset="-120"/>
              </a:rPr>
              <a:t>1</a:t>
            </a:r>
            <a:endParaRPr lang="en-US" sz="2800" dirty="0"/>
          </a:p>
        </p:txBody>
      </p:sp>
      <p:sp>
        <p:nvSpPr>
          <p:cNvPr id="6" name="Text 3"/>
          <p:cNvSpPr txBox="1"/>
          <p:nvPr/>
        </p:nvSpPr>
        <p:spPr>
          <a:xfrm>
            <a:off x="1783080" y="1691640"/>
            <a:ext cx="9144000" cy="320040"/>
          </a:xfrm>
          <a:prstGeom prst="rect">
            <a:avLst/>
          </a:prstGeom>
          <a:noFill/>
          <a:ln/>
        </p:spPr>
        <p:txBody>
          <a:bodyPr wrap="square" lIns="0" tIns="0" rIns="0" bIns="0" rtlCol="0" anchor="ctr"/>
          <a:lstStyle/>
          <a:p>
            <a:pPr marL="0" indent="0">
              <a:buNone/>
            </a:pPr>
            <a:r>
              <a:rPr lang="en-US" sz="1800" b="1" dirty="0">
                <a:solidFill>
                  <a:schemeClr val="tx1"/>
                </a:solidFill>
              </a:rPr>
              <a:t>Back the best-selling categories</a:t>
            </a:r>
            <a:endParaRPr lang="en-US" sz="1800" dirty="0"/>
          </a:p>
        </p:txBody>
      </p:sp>
      <p:sp>
        <p:nvSpPr>
          <p:cNvPr id="7" name="Text 4"/>
          <p:cNvSpPr txBox="1"/>
          <p:nvPr/>
        </p:nvSpPr>
        <p:spPr>
          <a:xfrm>
            <a:off x="1783080" y="2039112"/>
            <a:ext cx="9144000" cy="274320"/>
          </a:xfrm>
          <a:prstGeom prst="rect">
            <a:avLst/>
          </a:prstGeom>
          <a:noFill/>
          <a:ln/>
        </p:spPr>
        <p:txBody>
          <a:bodyPr wrap="square" lIns="0" tIns="0" rIns="0" bIns="0" rtlCol="0" anchor="ctr"/>
          <a:lstStyle/>
          <a:p>
            <a:pPr marL="0" indent="0">
              <a:buNone/>
            </a:pPr>
            <a:r>
              <a:rPr lang="en-US" sz="1400" dirty="0">
                <a:solidFill>
                  <a:schemeClr val="accent4"/>
                </a:solidFill>
              </a:rPr>
              <a:t>Increase stock and marketing for [top category], the leading source of sales.</a:t>
            </a:r>
            <a:endParaRPr lang="en-US" sz="1400" dirty="0"/>
          </a:p>
        </p:txBody>
      </p:sp>
      <p:sp>
        <p:nvSpPr>
          <p:cNvPr id="8" name="Recommendation 2"/>
          <p:cNvSpPr/>
          <p:nvPr/>
        </p:nvSpPr>
        <p:spPr>
          <a:xfrm>
            <a:off x="822960" y="2505456"/>
            <a:ext cx="10488168" cy="804672"/>
          </a:xfrm>
          <a:prstGeom prst="roundRect">
            <a:avLst>
              <a:gd name="adj" fmla="val 13636"/>
            </a:avLst>
          </a:prstGeom>
          <a:solidFill>
            <a:schemeClr val="bg2"/>
          </a:solidFill>
          <a:ln w="12700">
            <a:solidFill>
              <a:srgbClr val="DDD8CC"/>
            </a:solidFill>
            <a:prstDash val="solid"/>
          </a:ln>
        </p:spPr>
      </p:sp>
      <p:sp>
        <p:nvSpPr>
          <p:cNvPr id="9" name="Text 6"/>
          <p:cNvSpPr txBox="1"/>
          <p:nvPr/>
        </p:nvSpPr>
        <p:spPr>
          <a:xfrm>
            <a:off x="1051560" y="2505456"/>
            <a:ext cx="548640" cy="804672"/>
          </a:xfrm>
          <a:prstGeom prst="rect">
            <a:avLst/>
          </a:prstGeom>
          <a:noFill/>
          <a:ln/>
        </p:spPr>
        <p:txBody>
          <a:bodyPr wrap="square" lIns="0" tIns="0" rIns="0" bIns="0" rtlCol="0" anchor="ctr"/>
          <a:lstStyle/>
          <a:p>
            <a:pPr marL="0" indent="0">
              <a:buNone/>
            </a:pPr>
            <a:r>
              <a:rPr lang="en-US" sz="2800" b="1" dirty="0">
                <a:solidFill>
                  <a:schemeClr val="accent3"/>
                </a:solidFill>
                <a:latin typeface="+mj-lt" pitchFamily="34" charset="0"/>
                <a:ea typeface="+mj-lt" pitchFamily="34" charset="-122"/>
                <a:cs typeface="+mj-lt" pitchFamily="34" charset="-120"/>
              </a:rPr>
              <a:t>2</a:t>
            </a:r>
            <a:endParaRPr lang="en-US" sz="2800" dirty="0"/>
          </a:p>
        </p:txBody>
      </p:sp>
      <p:sp>
        <p:nvSpPr>
          <p:cNvPr id="10" name="Text 7"/>
          <p:cNvSpPr txBox="1"/>
          <p:nvPr/>
        </p:nvSpPr>
        <p:spPr>
          <a:xfrm>
            <a:off x="1783080" y="2596896"/>
            <a:ext cx="9144000" cy="320040"/>
          </a:xfrm>
          <a:prstGeom prst="rect">
            <a:avLst/>
          </a:prstGeom>
          <a:noFill/>
          <a:ln/>
        </p:spPr>
        <p:txBody>
          <a:bodyPr wrap="square" lIns="0" tIns="0" rIns="0" bIns="0" rtlCol="0" anchor="ctr"/>
          <a:lstStyle/>
          <a:p>
            <a:pPr marL="0" indent="0">
              <a:buNone/>
            </a:pPr>
            <a:r>
              <a:rPr lang="en-US" sz="1800" b="1" dirty="0">
                <a:solidFill>
                  <a:schemeClr val="tx1"/>
                </a:solidFill>
              </a:rPr>
              <a:t>Lift the profit margin</a:t>
            </a:r>
            <a:endParaRPr lang="en-US" sz="1800" dirty="0"/>
          </a:p>
        </p:txBody>
      </p:sp>
      <p:sp>
        <p:nvSpPr>
          <p:cNvPr id="11" name="Text 8"/>
          <p:cNvSpPr txBox="1"/>
          <p:nvPr/>
        </p:nvSpPr>
        <p:spPr>
          <a:xfrm>
            <a:off x="1783080" y="2944368"/>
            <a:ext cx="9144000" cy="274320"/>
          </a:xfrm>
          <a:prstGeom prst="rect">
            <a:avLst/>
          </a:prstGeom>
          <a:noFill/>
          <a:ln/>
        </p:spPr>
        <p:txBody>
          <a:bodyPr wrap="square" lIns="0" tIns="0" rIns="0" bIns="0" rtlCol="0" anchor="ctr"/>
          <a:lstStyle/>
          <a:p>
            <a:pPr marL="0" indent="0">
              <a:buNone/>
            </a:pPr>
            <a:r>
              <a:rPr lang="en-US" sz="1400" dirty="0">
                <a:solidFill>
                  <a:schemeClr val="accent4"/>
                </a:solidFill>
              </a:rPr>
              <a:t>Review pricing, discounts and supplier costs on low-margin products.</a:t>
            </a:r>
            <a:endParaRPr lang="en-US" sz="1400" dirty="0"/>
          </a:p>
        </p:txBody>
      </p:sp>
      <p:sp>
        <p:nvSpPr>
          <p:cNvPr id="12" name="Recommendation 3"/>
          <p:cNvSpPr/>
          <p:nvPr/>
        </p:nvSpPr>
        <p:spPr>
          <a:xfrm>
            <a:off x="822960" y="3410712"/>
            <a:ext cx="10488168" cy="804672"/>
          </a:xfrm>
          <a:prstGeom prst="roundRect">
            <a:avLst>
              <a:gd name="adj" fmla="val 13636"/>
            </a:avLst>
          </a:prstGeom>
          <a:solidFill>
            <a:schemeClr val="bg2"/>
          </a:solidFill>
          <a:ln w="12700">
            <a:solidFill>
              <a:srgbClr val="DDD8CC"/>
            </a:solidFill>
            <a:prstDash val="solid"/>
          </a:ln>
        </p:spPr>
      </p:sp>
      <p:sp>
        <p:nvSpPr>
          <p:cNvPr id="13" name="Text 10"/>
          <p:cNvSpPr txBox="1"/>
          <p:nvPr/>
        </p:nvSpPr>
        <p:spPr>
          <a:xfrm>
            <a:off x="1051560" y="3410712"/>
            <a:ext cx="548640" cy="804672"/>
          </a:xfrm>
          <a:prstGeom prst="rect">
            <a:avLst/>
          </a:prstGeom>
          <a:noFill/>
          <a:ln/>
        </p:spPr>
        <p:txBody>
          <a:bodyPr wrap="square" lIns="0" tIns="0" rIns="0" bIns="0" rtlCol="0" anchor="ctr"/>
          <a:lstStyle/>
          <a:p>
            <a:pPr marL="0" indent="0">
              <a:buNone/>
            </a:pPr>
            <a:r>
              <a:rPr lang="en-US" sz="2800" b="1" dirty="0">
                <a:solidFill>
                  <a:schemeClr val="accent3"/>
                </a:solidFill>
                <a:latin typeface="+mj-lt" pitchFamily="34" charset="0"/>
                <a:ea typeface="+mj-lt" pitchFamily="34" charset="-122"/>
                <a:cs typeface="+mj-lt" pitchFamily="34" charset="-120"/>
              </a:rPr>
              <a:t>3</a:t>
            </a:r>
            <a:endParaRPr lang="en-US" sz="2800" dirty="0"/>
          </a:p>
        </p:txBody>
      </p:sp>
      <p:sp>
        <p:nvSpPr>
          <p:cNvPr id="14" name="Text 11"/>
          <p:cNvSpPr txBox="1"/>
          <p:nvPr/>
        </p:nvSpPr>
        <p:spPr>
          <a:xfrm>
            <a:off x="1783080" y="3502152"/>
            <a:ext cx="9144000" cy="320040"/>
          </a:xfrm>
          <a:prstGeom prst="rect">
            <a:avLst/>
          </a:prstGeom>
          <a:noFill/>
          <a:ln/>
        </p:spPr>
        <p:txBody>
          <a:bodyPr wrap="square" lIns="0" tIns="0" rIns="0" bIns="0" rtlCol="0" anchor="ctr"/>
          <a:lstStyle/>
          <a:p>
            <a:pPr marL="0" indent="0">
              <a:buNone/>
            </a:pPr>
            <a:r>
              <a:rPr lang="en-US" sz="1800" b="1" dirty="0">
                <a:solidFill>
                  <a:schemeClr val="tx1"/>
                </a:solidFill>
              </a:rPr>
              <a:t>Grow the weaker regions</a:t>
            </a:r>
            <a:endParaRPr lang="en-US" sz="1800" dirty="0"/>
          </a:p>
        </p:txBody>
      </p:sp>
      <p:sp>
        <p:nvSpPr>
          <p:cNvPr id="15" name="Text 12"/>
          <p:cNvSpPr txBox="1"/>
          <p:nvPr/>
        </p:nvSpPr>
        <p:spPr>
          <a:xfrm>
            <a:off x="1783080" y="3849624"/>
            <a:ext cx="9144000" cy="274320"/>
          </a:xfrm>
          <a:prstGeom prst="rect">
            <a:avLst/>
          </a:prstGeom>
          <a:noFill/>
          <a:ln/>
        </p:spPr>
        <p:txBody>
          <a:bodyPr wrap="square" lIns="0" tIns="0" rIns="0" bIns="0" rtlCol="0" anchor="ctr"/>
          <a:lstStyle/>
          <a:p>
            <a:pPr marL="0" indent="0">
              <a:buNone/>
            </a:pPr>
            <a:r>
              <a:rPr lang="en-US" sz="1400" dirty="0">
                <a:solidFill>
                  <a:schemeClr val="accent4"/>
                </a:solidFill>
              </a:rPr>
              <a:t>Run targeted campaigns in [lowest-selling region], where sales trail the rest.</a:t>
            </a:r>
            <a:endParaRPr lang="en-US" sz="1400" dirty="0"/>
          </a:p>
        </p:txBody>
      </p:sp>
      <p:sp>
        <p:nvSpPr>
          <p:cNvPr id="16" name="Recommendation 4"/>
          <p:cNvSpPr/>
          <p:nvPr/>
        </p:nvSpPr>
        <p:spPr>
          <a:xfrm>
            <a:off x="822960" y="4315968"/>
            <a:ext cx="10488168" cy="804672"/>
          </a:xfrm>
          <a:prstGeom prst="roundRect">
            <a:avLst>
              <a:gd name="adj" fmla="val 13636"/>
            </a:avLst>
          </a:prstGeom>
          <a:solidFill>
            <a:schemeClr val="bg2"/>
          </a:solidFill>
          <a:ln w="12700">
            <a:solidFill>
              <a:srgbClr val="DDD8CC"/>
            </a:solidFill>
            <a:prstDash val="solid"/>
          </a:ln>
        </p:spPr>
      </p:sp>
      <p:sp>
        <p:nvSpPr>
          <p:cNvPr id="17" name="Text 14"/>
          <p:cNvSpPr txBox="1"/>
          <p:nvPr/>
        </p:nvSpPr>
        <p:spPr>
          <a:xfrm>
            <a:off x="1051560" y="4315968"/>
            <a:ext cx="548640" cy="804672"/>
          </a:xfrm>
          <a:prstGeom prst="rect">
            <a:avLst/>
          </a:prstGeom>
          <a:noFill/>
          <a:ln/>
        </p:spPr>
        <p:txBody>
          <a:bodyPr wrap="square" lIns="0" tIns="0" rIns="0" bIns="0" rtlCol="0" anchor="ctr"/>
          <a:lstStyle/>
          <a:p>
            <a:pPr marL="0" indent="0">
              <a:buNone/>
            </a:pPr>
            <a:r>
              <a:rPr lang="en-US" sz="2800" b="1" dirty="0">
                <a:solidFill>
                  <a:schemeClr val="accent3"/>
                </a:solidFill>
                <a:latin typeface="+mj-lt" pitchFamily="34" charset="0"/>
                <a:ea typeface="+mj-lt" pitchFamily="34" charset="-122"/>
                <a:cs typeface="+mj-lt" pitchFamily="34" charset="-120"/>
              </a:rPr>
              <a:t>4</a:t>
            </a:r>
            <a:endParaRPr lang="en-US" sz="2800" dirty="0"/>
          </a:p>
        </p:txBody>
      </p:sp>
      <p:sp>
        <p:nvSpPr>
          <p:cNvPr id="18" name="Text 15"/>
          <p:cNvSpPr txBox="1"/>
          <p:nvPr/>
        </p:nvSpPr>
        <p:spPr>
          <a:xfrm>
            <a:off x="1783080" y="4407408"/>
            <a:ext cx="9144000" cy="320040"/>
          </a:xfrm>
          <a:prstGeom prst="rect">
            <a:avLst/>
          </a:prstGeom>
          <a:noFill/>
          <a:ln/>
        </p:spPr>
        <p:txBody>
          <a:bodyPr wrap="square" lIns="0" tIns="0" rIns="0" bIns="0" rtlCol="0" anchor="ctr"/>
          <a:lstStyle/>
          <a:p>
            <a:pPr marL="0" indent="0">
              <a:buNone/>
            </a:pPr>
            <a:r>
              <a:rPr lang="en-US" sz="1800" b="1" dirty="0">
                <a:solidFill>
                  <a:schemeClr val="tx1"/>
                </a:solidFill>
              </a:rPr>
              <a:t>Reduce order drop-off</a:t>
            </a:r>
            <a:endParaRPr lang="en-US" sz="1800" dirty="0"/>
          </a:p>
        </p:txBody>
      </p:sp>
      <p:sp>
        <p:nvSpPr>
          <p:cNvPr id="19" name="Text 16"/>
          <p:cNvSpPr txBox="1"/>
          <p:nvPr/>
        </p:nvSpPr>
        <p:spPr>
          <a:xfrm>
            <a:off x="1783080" y="4754880"/>
            <a:ext cx="9144000" cy="274320"/>
          </a:xfrm>
          <a:prstGeom prst="rect">
            <a:avLst/>
          </a:prstGeom>
          <a:noFill/>
          <a:ln/>
        </p:spPr>
        <p:txBody>
          <a:bodyPr wrap="square" lIns="0" tIns="0" rIns="0" bIns="0" rtlCol="0" anchor="ctr"/>
          <a:lstStyle/>
          <a:p>
            <a:pPr marL="0" indent="0">
              <a:buNone/>
            </a:pPr>
            <a:r>
              <a:rPr lang="en-US" sz="1400" dirty="0">
                <a:solidFill>
                  <a:schemeClr val="accent4"/>
                </a:solidFill>
              </a:rPr>
              <a:t>Study non-completed orders in the order status chart and improve fulfilment and payment options.</a:t>
            </a:r>
            <a:endParaRPr lang="en-US" sz="1400" dirty="0"/>
          </a:p>
        </p:txBody>
      </p:sp>
      <p:sp>
        <p:nvSpPr>
          <p:cNvPr id="20" name="Recommendation 5"/>
          <p:cNvSpPr/>
          <p:nvPr/>
        </p:nvSpPr>
        <p:spPr>
          <a:xfrm>
            <a:off x="822960" y="5221224"/>
            <a:ext cx="10488168" cy="804672"/>
          </a:xfrm>
          <a:prstGeom prst="roundRect">
            <a:avLst>
              <a:gd name="adj" fmla="val 13636"/>
            </a:avLst>
          </a:prstGeom>
          <a:solidFill>
            <a:schemeClr val="bg2"/>
          </a:solidFill>
          <a:ln w="12700">
            <a:solidFill>
              <a:srgbClr val="DDD8CC"/>
            </a:solidFill>
            <a:prstDash val="solid"/>
          </a:ln>
        </p:spPr>
      </p:sp>
      <p:sp>
        <p:nvSpPr>
          <p:cNvPr id="21" name="Text 18"/>
          <p:cNvSpPr txBox="1"/>
          <p:nvPr/>
        </p:nvSpPr>
        <p:spPr>
          <a:xfrm>
            <a:off x="1051560" y="5221224"/>
            <a:ext cx="548640" cy="804672"/>
          </a:xfrm>
          <a:prstGeom prst="rect">
            <a:avLst/>
          </a:prstGeom>
          <a:noFill/>
          <a:ln/>
        </p:spPr>
        <p:txBody>
          <a:bodyPr wrap="square" lIns="0" tIns="0" rIns="0" bIns="0" rtlCol="0" anchor="ctr"/>
          <a:lstStyle/>
          <a:p>
            <a:pPr marL="0" indent="0">
              <a:buNone/>
            </a:pPr>
            <a:r>
              <a:rPr lang="en-US" sz="2800" b="1" dirty="0">
                <a:solidFill>
                  <a:schemeClr val="accent3"/>
                </a:solidFill>
                <a:latin typeface="+mj-lt" pitchFamily="34" charset="0"/>
                <a:ea typeface="+mj-lt" pitchFamily="34" charset="-122"/>
                <a:cs typeface="+mj-lt" pitchFamily="34" charset="-120"/>
              </a:rPr>
              <a:t>5</a:t>
            </a:r>
            <a:endParaRPr lang="en-US" sz="2800" dirty="0"/>
          </a:p>
        </p:txBody>
      </p:sp>
      <p:sp>
        <p:nvSpPr>
          <p:cNvPr id="22" name="Text 19"/>
          <p:cNvSpPr txBox="1"/>
          <p:nvPr/>
        </p:nvSpPr>
        <p:spPr>
          <a:xfrm>
            <a:off x="1783080" y="5312664"/>
            <a:ext cx="9144000" cy="320040"/>
          </a:xfrm>
          <a:prstGeom prst="rect">
            <a:avLst/>
          </a:prstGeom>
          <a:noFill/>
          <a:ln/>
        </p:spPr>
        <p:txBody>
          <a:bodyPr wrap="square" lIns="0" tIns="0" rIns="0" bIns="0" rtlCol="0" anchor="ctr"/>
          <a:lstStyle/>
          <a:p>
            <a:pPr marL="0" indent="0">
              <a:buNone/>
            </a:pPr>
            <a:r>
              <a:rPr lang="en-US" sz="1800" b="1" dirty="0">
                <a:solidFill>
                  <a:schemeClr val="tx1"/>
                </a:solidFill>
              </a:rPr>
              <a:t>Nurture key customer segments</a:t>
            </a:r>
            <a:endParaRPr lang="en-US" sz="1800" dirty="0"/>
          </a:p>
        </p:txBody>
      </p:sp>
      <p:sp>
        <p:nvSpPr>
          <p:cNvPr id="23" name="Text 20"/>
          <p:cNvSpPr txBox="1"/>
          <p:nvPr/>
        </p:nvSpPr>
        <p:spPr>
          <a:xfrm>
            <a:off x="1783080" y="5660136"/>
            <a:ext cx="9144000" cy="274320"/>
          </a:xfrm>
          <a:prstGeom prst="rect">
            <a:avLst/>
          </a:prstGeom>
          <a:noFill/>
          <a:ln/>
        </p:spPr>
        <p:txBody>
          <a:bodyPr wrap="square" lIns="0" tIns="0" rIns="0" bIns="0" rtlCol="0" anchor="ctr"/>
          <a:lstStyle/>
          <a:p>
            <a:pPr marL="0" indent="0">
              <a:buNone/>
            </a:pPr>
            <a:r>
              <a:rPr lang="en-US" sz="1400" dirty="0">
                <a:solidFill>
                  <a:schemeClr val="accent4"/>
                </a:solidFill>
              </a:rPr>
              <a:t>Build loyalty offers for [top segment] and test campaigns for the others.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66070"/>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548640"/>
            <a:ext cx="10515600" cy="914400"/>
          </a:xfrm>
          <a:prstGeom prst="rect">
            <a:avLst/>
          </a:prstGeom>
          <a:noFill/>
          <a:ln/>
        </p:spPr>
        <p:txBody>
          <a:bodyPr wrap="square" lIns="0" tIns="0" rIns="0" bIns="0" rtlCol="0" anchor="ctr"/>
          <a:lstStyle/>
          <a:p>
            <a:pPr marL="0" indent="0" algn="l">
              <a:buNone/>
            </a:pPr>
            <a:r>
              <a:rPr lang="en-US" sz="4000" b="1" dirty="0">
                <a:solidFill>
                  <a:schemeClr val="accent1"/>
                </a:solidFill>
                <a:latin typeface="+mj-lt" pitchFamily="34" charset="0"/>
                <a:ea typeface="+mj-lt" pitchFamily="34" charset="-122"/>
                <a:cs typeface="+mj-lt" pitchFamily="34" charset="-120"/>
              </a:rPr>
              <a:t>Conclusion</a:t>
            </a:r>
            <a:endParaRPr lang="en-US" sz="4000" dirty="0"/>
          </a:p>
        </p:txBody>
      </p:sp>
      <p:sp>
        <p:nvSpPr>
          <p:cNvPr id="3" name="Text 1"/>
          <p:cNvSpPr txBox="1"/>
          <p:nvPr/>
        </p:nvSpPr>
        <p:spPr>
          <a:xfrm>
            <a:off x="822960" y="1920240"/>
            <a:ext cx="10241280" cy="2194560"/>
          </a:xfrm>
          <a:prstGeom prst="rect">
            <a:avLst/>
          </a:prstGeom>
          <a:noFill/>
          <a:ln/>
        </p:spPr>
        <p:txBody>
          <a:bodyPr wrap="square" lIns="0" tIns="0" rIns="0" bIns="0" rtlCol="0" anchor="t"/>
          <a:lstStyle/>
          <a:p>
            <a:pPr marL="0" indent="0">
              <a:buNone/>
            </a:pPr>
            <a:r>
              <a:rPr lang="en-US" sz="2800" dirty="0">
                <a:solidFill>
                  <a:schemeClr val="bg1"/>
                </a:solidFill>
                <a:latin typeface="+mj-lt" pitchFamily="34" charset="0"/>
                <a:ea typeface="+mj-lt" pitchFamily="34" charset="-122"/>
                <a:cs typeface="+mj-lt" pitchFamily="34" charset="-120"/>
              </a:rPr>
              <a:t>The Power BI dashboard gives one clear view of sales, profit, margin and orders. With total sales of ₹[__] and a profit margin of [__]%, [describe how the business is performing].</a:t>
            </a:r>
            <a:endParaRPr lang="en-US" sz="2800" dirty="0"/>
          </a:p>
        </p:txBody>
      </p:sp>
      <p:sp>
        <p:nvSpPr>
          <p:cNvPr id="4" name="Text 2"/>
          <p:cNvSpPr txBox="1"/>
          <p:nvPr/>
        </p:nvSpPr>
        <p:spPr>
          <a:xfrm>
            <a:off x="822960" y="4480560"/>
            <a:ext cx="10241280" cy="731520"/>
          </a:xfrm>
          <a:prstGeom prst="rect">
            <a:avLst/>
          </a:prstGeom>
          <a:noFill/>
          <a:ln/>
        </p:spPr>
        <p:txBody>
          <a:bodyPr wrap="square" lIns="0" tIns="0" rIns="0" bIns="0" rtlCol="0" anchor="t"/>
          <a:lstStyle/>
          <a:p>
            <a:pPr marL="0" indent="0">
              <a:buNone/>
            </a:pPr>
            <a:r>
              <a:rPr lang="en-US" sz="2000" dirty="0">
                <a:solidFill>
                  <a:schemeClr val="accent6"/>
                </a:solidFill>
              </a:rPr>
              <a:t>Acting on the recommendations will strengthen both growth and profitability.</a:t>
            </a:r>
            <a:endParaRPr lang="en-US" sz="2000" dirty="0"/>
          </a:p>
        </p:txBody>
      </p:sp>
    </p:spTree>
  </p:cSld>
  <p:clrMapOvr>
    <a:masterClrMapping/>
  </p:clrMapOvr>
</p:sld>
</file>

<file path=ppt/theme/theme1.xml><?xml version="1.0" encoding="utf-8"?>
<a:theme xmlns:a="http://schemas.openxmlformats.org/drawingml/2006/main" name="Ecommerce Dashboard">
  <a:themeElements>
    <a:clrScheme name="Ecommerce Dashboard">
      <a:dk1>
        <a:srgbClr val="1B1F2A"/>
      </a:dk1>
      <a:lt1>
        <a:srgbClr val="F4F1EA"/>
      </a:lt1>
      <a:dk2>
        <a:srgbClr val="14213D"/>
      </a:dk2>
      <a:lt2>
        <a:srgbClr val="FBFAF6"/>
      </a:lt2>
      <a:accent1>
        <a:srgbClr val="E8833A"/>
      </a:accent1>
      <a:accent2>
        <a:srgbClr val="2A6F97"/>
      </a:accent2>
      <a:accent3>
        <a:srgbClr val="B85A14"/>
      </a:accent3>
      <a:accent4>
        <a:srgbClr val="566070"/>
      </a:accent4>
      <a:accent5>
        <a:srgbClr val="DDD8CC"/>
      </a:accent5>
      <a:accent6>
        <a:srgbClr val="B8C0D0"/>
      </a:accent6>
      <a:hlink>
        <a:srgbClr val="2A6F97"/>
      </a:hlink>
      <a:folHlink>
        <a:srgbClr val="566070"/>
      </a:folHlink>
    </a:clrScheme>
    <a:fontScheme name="Ecommerce Dashbo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1114</Words>
  <Application>Microsoft Office PowerPoint</Application>
  <PresentationFormat>Widescreen</PresentationFormat>
  <Paragraphs>207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Ecommerce Dashboard</vt:lpstr>
      <vt:lpstr>Ecommerce Sales Dashboard</vt:lpstr>
      <vt:lpstr>Agenda</vt:lpstr>
      <vt:lpstr>Project Introduction</vt:lpstr>
      <vt:lpstr>Project Objectives</vt:lpstr>
      <vt:lpstr>Data Model</vt:lpstr>
      <vt:lpstr>Dashboard Overview</vt:lpstr>
      <vt:lpstr>KPI Analysis</vt:lpstr>
      <vt:lpstr>Total Sales</vt:lpstr>
      <vt:lpstr>Total Profit and Profit Margin</vt:lpstr>
      <vt:lpstr>Total Orders</vt:lpstr>
      <vt:lpstr>Sales by Region</vt:lpstr>
      <vt:lpstr>Sales by Category and Product</vt:lpstr>
      <vt:lpstr>Sales by Customer Segment</vt:lpstr>
      <vt:lpstr>Key Insights</vt:lpstr>
      <vt:lpstr>Recommendations</vt:lpstr>
      <vt:lpstr>Conclusion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Sales Dashboard – Detailed Power BI Presentation</dc:title>
  <dc:subject>PptxGenJS Presentation</dc:subject>
  <dc:creator>PptxGenJS</dc:creator>
  <cp:lastModifiedBy>Microsoft account</cp:lastModifiedBy>
  <cp:revision>4</cp:revision>
  <dcterms:created xsi:type="dcterms:W3CDTF">2026-10-21T06:26:25Z</dcterms:created>
  <dcterms:modified xsi:type="dcterms:W3CDTF">2026-10-21T06:55:51Z</dcterms:modified>
</cp:coreProperties>
</file>